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8288000" cy="10287000"/>
  <p:notesSz cx="6858000" cy="9144000"/>
  <p:embeddedFontLst>
    <p:embeddedFont>
      <p:font typeface="Noto Sans" panose="020B0502040504020204" pitchFamily="34" charset="0"/>
      <p:regular r:id="rId19"/>
      <p:bold r:id="rId20"/>
      <p:italic r:id="rId21"/>
      <p:boldItalic r:id="rId22"/>
    </p:embeddedFont>
    <p:embeddedFont>
      <p:font typeface="Noto Sans Bold" panose="020B0802040504020204" pitchFamily="34" charset="0"/>
      <p:regular r:id="rId23"/>
      <p:bold r:id="rId24"/>
    </p:embeddedFont>
    <p:embeddedFont>
      <p:font typeface="Oswald Bold" panose="00000800000000000000" pitchFamily="2" charset="0"/>
      <p:regular r:id="rId25"/>
      <p:bold r:id="rId26"/>
    </p:embeddedFont>
    <p:embeddedFont>
      <p:font typeface="Poppins" panose="00000500000000000000" pitchFamily="2" charset="0"/>
      <p:regular r:id="rId27"/>
      <p:bold r:id="rId28"/>
      <p:italic r:id="rId29"/>
      <p:boldItalic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CA2AD02-7E2B-662C-F063-6121183062DB}" v="116" dt="2026-01-05T03:37:49.6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2.svg"/><Relationship Id="rId7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jpe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832398" y="-1227097"/>
            <a:ext cx="6217418" cy="4114800"/>
          </a:xfrm>
          <a:custGeom>
            <a:avLst/>
            <a:gdLst/>
            <a:ahLst/>
            <a:cxnLst/>
            <a:rect l="l" t="t" r="r" b="b"/>
            <a:pathLst>
              <a:path w="6217418" h="4114800">
                <a:moveTo>
                  <a:pt x="0" y="0"/>
                </a:moveTo>
                <a:lnTo>
                  <a:pt x="6217417" y="0"/>
                </a:lnTo>
                <a:lnTo>
                  <a:pt x="621741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695454" y="6826250"/>
            <a:ext cx="6217418" cy="4114800"/>
          </a:xfrm>
          <a:custGeom>
            <a:avLst/>
            <a:gdLst/>
            <a:ahLst/>
            <a:cxnLst/>
            <a:rect l="l" t="t" r="r" b="b"/>
            <a:pathLst>
              <a:path w="6217418" h="4114800">
                <a:moveTo>
                  <a:pt x="0" y="0"/>
                </a:moveTo>
                <a:lnTo>
                  <a:pt x="6217418" y="0"/>
                </a:lnTo>
                <a:lnTo>
                  <a:pt x="62174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480469" y="366853"/>
            <a:ext cx="1323694" cy="1323694"/>
          </a:xfrm>
          <a:custGeom>
            <a:avLst/>
            <a:gdLst/>
            <a:ahLst/>
            <a:cxnLst/>
            <a:rect l="l" t="t" r="r" b="b"/>
            <a:pathLst>
              <a:path w="1323694" h="1323694">
                <a:moveTo>
                  <a:pt x="0" y="0"/>
                </a:moveTo>
                <a:lnTo>
                  <a:pt x="1323694" y="0"/>
                </a:lnTo>
                <a:lnTo>
                  <a:pt x="1323694" y="1323694"/>
                </a:lnTo>
                <a:lnTo>
                  <a:pt x="0" y="13236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AutoShape 5"/>
          <p:cNvSpPr/>
          <p:nvPr/>
        </p:nvSpPr>
        <p:spPr>
          <a:xfrm flipV="1">
            <a:off x="2770248" y="4956175"/>
            <a:ext cx="535961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-135060" y="6627206"/>
            <a:ext cx="7661393" cy="3457204"/>
          </a:xfrm>
          <a:custGeom>
            <a:avLst/>
            <a:gdLst/>
            <a:ahLst/>
            <a:cxnLst/>
            <a:rect l="l" t="t" r="r" b="b"/>
            <a:pathLst>
              <a:path w="7661393" h="3457204">
                <a:moveTo>
                  <a:pt x="0" y="0"/>
                </a:moveTo>
                <a:lnTo>
                  <a:pt x="7661393" y="0"/>
                </a:lnTo>
                <a:lnTo>
                  <a:pt x="7661393" y="3457204"/>
                </a:lnTo>
                <a:lnTo>
                  <a:pt x="0" y="34572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8129864" y="5701571"/>
            <a:ext cx="9309516" cy="2192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81"/>
              </a:lnSpc>
              <a:spcBef>
                <a:spcPct val="0"/>
              </a:spcBef>
            </a:pPr>
            <a:r>
              <a:rPr lang="en-US" sz="312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sinh viên thực hiện          : Nguyễn Đoàn Nhật Huy </a:t>
            </a:r>
          </a:p>
          <a:p>
            <a:pPr algn="l">
              <a:lnSpc>
                <a:spcPts val="4381"/>
              </a:lnSpc>
              <a:spcBef>
                <a:spcPct val="0"/>
              </a:spcBef>
            </a:pPr>
            <a:r>
              <a:rPr lang="en-US" sz="312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           MSSV                       : 110123106 </a:t>
            </a:r>
          </a:p>
          <a:p>
            <a:pPr algn="l">
              <a:lnSpc>
                <a:spcPts val="4381"/>
              </a:lnSpc>
              <a:spcBef>
                <a:spcPct val="0"/>
              </a:spcBef>
            </a:pPr>
            <a:r>
              <a:rPr lang="en-US" sz="312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             Lớp                         : DA23TTC</a:t>
            </a:r>
          </a:p>
          <a:p>
            <a:pPr algn="l">
              <a:lnSpc>
                <a:spcPts val="4381"/>
              </a:lnSpc>
              <a:spcBef>
                <a:spcPct val="0"/>
              </a:spcBef>
            </a:pPr>
            <a:r>
              <a:rPr lang="en-US" sz="312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Giảng viên hướng dẫn    : Lê Minh Tự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39238" y="4889500"/>
            <a:ext cx="9525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endParaRPr/>
          </a:p>
        </p:txBody>
      </p:sp>
      <p:sp>
        <p:nvSpPr>
          <p:cNvPr id="9" name="TextBox 9"/>
          <p:cNvSpPr txBox="1"/>
          <p:nvPr/>
        </p:nvSpPr>
        <p:spPr>
          <a:xfrm>
            <a:off x="1642906" y="1699638"/>
            <a:ext cx="15505804" cy="29183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711"/>
              </a:lnSpc>
            </a:pPr>
            <a:r>
              <a:rPr lang="en-US" sz="8365" b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MÔ PHỎNG MỘT SỐ </a:t>
            </a:r>
          </a:p>
          <a:p>
            <a:pPr algn="ctr">
              <a:lnSpc>
                <a:spcPts val="11711"/>
              </a:lnSpc>
            </a:pPr>
            <a:r>
              <a:rPr lang="en-US" sz="8365" b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PHƯƠNG PHÁP SẮP XẾP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3597698" y="-1769921"/>
            <a:ext cx="6217418" cy="4114800"/>
          </a:xfrm>
          <a:custGeom>
            <a:avLst/>
            <a:gdLst/>
            <a:ahLst/>
            <a:cxnLst/>
            <a:rect l="l" t="t" r="r" b="b"/>
            <a:pathLst>
              <a:path w="6217418" h="4114800">
                <a:moveTo>
                  <a:pt x="6217418" y="0"/>
                </a:moveTo>
                <a:lnTo>
                  <a:pt x="0" y="0"/>
                </a:lnTo>
                <a:lnTo>
                  <a:pt x="0" y="4114800"/>
                </a:lnTo>
                <a:lnTo>
                  <a:pt x="6217418" y="4114800"/>
                </a:lnTo>
                <a:lnTo>
                  <a:pt x="621741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3108709" y="7013575"/>
            <a:ext cx="6217418" cy="4114800"/>
          </a:xfrm>
          <a:custGeom>
            <a:avLst/>
            <a:gdLst/>
            <a:ahLst/>
            <a:cxnLst/>
            <a:rect l="l" t="t" r="r" b="b"/>
            <a:pathLst>
              <a:path w="6217418" h="4114800">
                <a:moveTo>
                  <a:pt x="6217418" y="0"/>
                </a:moveTo>
                <a:lnTo>
                  <a:pt x="0" y="0"/>
                </a:lnTo>
                <a:lnTo>
                  <a:pt x="0" y="4114800"/>
                </a:lnTo>
                <a:lnTo>
                  <a:pt x="6217418" y="4114800"/>
                </a:lnTo>
                <a:lnTo>
                  <a:pt x="621741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108709" y="4244809"/>
            <a:ext cx="13070477" cy="3174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71550" lvl="1" indent="-485775" algn="just">
              <a:lnSpc>
                <a:spcPts val="6301"/>
              </a:lnSpc>
              <a:buFont typeface="Arial"/>
              <a:buChar char="•"/>
            </a:pPr>
            <a:r>
              <a:rPr lang="en-US" sz="45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Thuật</a:t>
            </a:r>
            <a:r>
              <a:rPr lang="en-US" sz="45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45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toán</a:t>
            </a:r>
            <a:r>
              <a:rPr lang="en-US" sz="45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45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sắp</a:t>
            </a:r>
            <a:r>
              <a:rPr lang="en-US" sz="45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45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xếp</a:t>
            </a:r>
            <a:r>
              <a:rPr lang="en-US" sz="45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45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là</a:t>
            </a:r>
            <a:r>
              <a:rPr lang="en-US" sz="45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45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kiến</a:t>
            </a:r>
            <a:r>
              <a:rPr lang="en-US" sz="45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45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thức</a:t>
            </a:r>
            <a:r>
              <a:rPr lang="en-US" sz="45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45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nền</a:t>
            </a:r>
            <a:r>
              <a:rPr lang="en-US" sz="45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45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tảng</a:t>
            </a:r>
            <a:endParaRPr lang="en-US" sz="4500" dirty="0" err="1">
              <a:solidFill>
                <a:srgbClr val="000000"/>
              </a:solidFill>
              <a:latin typeface="Noto Sans"/>
              <a:ea typeface="Poppins"/>
              <a:cs typeface="Poppins"/>
            </a:endParaRPr>
          </a:p>
          <a:p>
            <a:pPr marL="971550" lvl="1" indent="-485775" algn="just">
              <a:lnSpc>
                <a:spcPts val="6301"/>
              </a:lnSpc>
              <a:spcBef>
                <a:spcPct val="0"/>
              </a:spcBef>
              <a:buFont typeface="Arial"/>
              <a:buChar char="•"/>
            </a:pPr>
            <a:r>
              <a:rPr lang="en-US" sz="45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Khó</a:t>
            </a:r>
            <a:r>
              <a:rPr lang="en-US" sz="45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45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hình</a:t>
            </a:r>
            <a:r>
              <a:rPr lang="en-US" sz="45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dung </a:t>
            </a:r>
            <a:r>
              <a:rPr lang="en-US" sz="45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bằng</a:t>
            </a:r>
            <a:r>
              <a:rPr lang="en-US" sz="45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45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lý</a:t>
            </a:r>
            <a:r>
              <a:rPr lang="en-US" sz="45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45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thuyết</a:t>
            </a:r>
            <a:endParaRPr lang="en-US" sz="4500" dirty="0" err="1">
              <a:solidFill>
                <a:srgbClr val="000000"/>
              </a:solidFill>
              <a:latin typeface="Noto Sans"/>
              <a:ea typeface="Poppins"/>
              <a:cs typeface="Poppins"/>
            </a:endParaRPr>
          </a:p>
          <a:p>
            <a:pPr marL="971550" lvl="1" indent="-485775" algn="just">
              <a:lnSpc>
                <a:spcPts val="6301"/>
              </a:lnSpc>
              <a:spcBef>
                <a:spcPct val="0"/>
              </a:spcBef>
              <a:buFont typeface="Arial"/>
              <a:buChar char="•"/>
            </a:pPr>
            <a:r>
              <a:rPr lang="en-US" sz="45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Cần</a:t>
            </a:r>
            <a:r>
              <a:rPr lang="en-US" sz="45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45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chương</a:t>
            </a:r>
            <a:r>
              <a:rPr lang="en-US" sz="45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45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trình</a:t>
            </a:r>
            <a:r>
              <a:rPr lang="en-US" sz="45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45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mô</a:t>
            </a:r>
            <a:r>
              <a:rPr lang="en-US" sz="45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45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phỏng</a:t>
            </a:r>
            <a:r>
              <a:rPr lang="en-US" sz="45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45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trực</a:t>
            </a:r>
            <a:r>
              <a:rPr lang="en-US" sz="45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45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quan</a:t>
            </a:r>
            <a:endParaRPr lang="en-US" sz="4500" dirty="0" err="1">
              <a:solidFill>
                <a:srgbClr val="000000"/>
              </a:solidFill>
              <a:latin typeface="Noto Sans"/>
              <a:ea typeface="Poppins"/>
              <a:cs typeface="Poppins"/>
            </a:endParaRPr>
          </a:p>
          <a:p>
            <a:pPr algn="just">
              <a:lnSpc>
                <a:spcPts val="6301"/>
              </a:lnSpc>
              <a:spcBef>
                <a:spcPct val="0"/>
              </a:spcBef>
            </a:pPr>
            <a:endParaRPr lang="en-US" sz="45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187407" y="2525854"/>
            <a:ext cx="7913187" cy="1033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60"/>
              </a:lnSpc>
            </a:pPr>
            <a:r>
              <a:rPr lang="en-US" sz="8000" b="1">
                <a:solidFill>
                  <a:srgbClr val="000000"/>
                </a:solidFill>
                <a:latin typeface="Oswald Bold"/>
                <a:ea typeface="Oswald Bold"/>
                <a:cs typeface="Oswald Bold"/>
                <a:sym typeface="Oswald Bold"/>
              </a:rPr>
              <a:t>LÝ DO CHỌN ĐỀ TÀI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3597698" y="-1769921"/>
            <a:ext cx="6217418" cy="4114800"/>
          </a:xfrm>
          <a:custGeom>
            <a:avLst/>
            <a:gdLst/>
            <a:ahLst/>
            <a:cxnLst/>
            <a:rect l="l" t="t" r="r" b="b"/>
            <a:pathLst>
              <a:path w="6217418" h="4114800">
                <a:moveTo>
                  <a:pt x="6217418" y="0"/>
                </a:moveTo>
                <a:lnTo>
                  <a:pt x="0" y="0"/>
                </a:lnTo>
                <a:lnTo>
                  <a:pt x="0" y="4114800"/>
                </a:lnTo>
                <a:lnTo>
                  <a:pt x="6217418" y="4114800"/>
                </a:lnTo>
                <a:lnTo>
                  <a:pt x="621741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3108709" y="7013575"/>
            <a:ext cx="6217418" cy="4114800"/>
          </a:xfrm>
          <a:custGeom>
            <a:avLst/>
            <a:gdLst/>
            <a:ahLst/>
            <a:cxnLst/>
            <a:rect l="l" t="t" r="r" b="b"/>
            <a:pathLst>
              <a:path w="6217418" h="4114800">
                <a:moveTo>
                  <a:pt x="6217418" y="0"/>
                </a:moveTo>
                <a:lnTo>
                  <a:pt x="0" y="0"/>
                </a:lnTo>
                <a:lnTo>
                  <a:pt x="0" y="4114800"/>
                </a:lnTo>
                <a:lnTo>
                  <a:pt x="6217418" y="4114800"/>
                </a:lnTo>
                <a:lnTo>
                  <a:pt x="621741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108709" y="4244809"/>
            <a:ext cx="12215096" cy="3174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71550" lvl="1" indent="-485775" algn="just">
              <a:lnSpc>
                <a:spcPts val="6301"/>
              </a:lnSpc>
              <a:buFont typeface="Arial"/>
              <a:buChar char="•"/>
            </a:pPr>
            <a:r>
              <a:rPr lang="en-US" sz="45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Mô</a:t>
            </a:r>
            <a:r>
              <a:rPr lang="en-US" sz="45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45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phỏng</a:t>
            </a:r>
            <a:r>
              <a:rPr lang="en-US" sz="45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5 </a:t>
            </a:r>
            <a:r>
              <a:rPr lang="en-US" sz="45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thuật</a:t>
            </a:r>
            <a:r>
              <a:rPr lang="en-US" sz="45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45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toán</a:t>
            </a:r>
            <a:r>
              <a:rPr lang="en-US" sz="45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45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sắp</a:t>
            </a:r>
            <a:r>
              <a:rPr lang="en-US" sz="45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45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xếp</a:t>
            </a:r>
            <a:endParaRPr lang="en-US" sz="4500" dirty="0" err="1">
              <a:solidFill>
                <a:srgbClr val="000000"/>
              </a:solidFill>
              <a:latin typeface="Noto Sans"/>
              <a:ea typeface="Poppins"/>
              <a:cs typeface="Poppins"/>
            </a:endParaRPr>
          </a:p>
          <a:p>
            <a:pPr marL="971550" lvl="1" indent="-485775" algn="just">
              <a:lnSpc>
                <a:spcPts val="6301"/>
              </a:lnSpc>
              <a:spcBef>
                <a:spcPct val="0"/>
              </a:spcBef>
              <a:buFont typeface="Arial"/>
              <a:buChar char="•"/>
            </a:pPr>
            <a:r>
              <a:rPr lang="en-US" sz="45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So </a:t>
            </a:r>
            <a:r>
              <a:rPr lang="en-US" sz="45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sánh</a:t>
            </a:r>
            <a:r>
              <a:rPr lang="en-US" sz="45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45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hiệu</a:t>
            </a:r>
            <a:r>
              <a:rPr lang="en-US" sz="45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45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quả</a:t>
            </a:r>
            <a:r>
              <a:rPr lang="en-US" sz="45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45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giữa</a:t>
            </a:r>
            <a:r>
              <a:rPr lang="en-US" sz="45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45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các</a:t>
            </a:r>
            <a:r>
              <a:rPr lang="en-US" sz="45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45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thuật</a:t>
            </a:r>
            <a:r>
              <a:rPr lang="en-US" sz="45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45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toán</a:t>
            </a:r>
            <a:endParaRPr lang="en-US" sz="4500" dirty="0" err="1">
              <a:solidFill>
                <a:srgbClr val="000000"/>
              </a:solidFill>
              <a:latin typeface="Noto Sans"/>
              <a:ea typeface="Poppins"/>
              <a:cs typeface="Poppins"/>
            </a:endParaRPr>
          </a:p>
          <a:p>
            <a:pPr marL="971550" lvl="1" indent="-485775" algn="just">
              <a:lnSpc>
                <a:spcPts val="6301"/>
              </a:lnSpc>
              <a:spcBef>
                <a:spcPct val="0"/>
              </a:spcBef>
              <a:buFont typeface="Arial"/>
              <a:buChar char="•"/>
            </a:pPr>
            <a:r>
              <a:rPr lang="en-US" sz="45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Phục </a:t>
            </a:r>
            <a:r>
              <a:rPr lang="en-US" sz="45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vụ</a:t>
            </a:r>
            <a:r>
              <a:rPr lang="en-US" sz="45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45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học</a:t>
            </a:r>
            <a:r>
              <a:rPr lang="en-US" sz="45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45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tập</a:t>
            </a:r>
            <a:r>
              <a:rPr lang="en-US" sz="45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45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và</a:t>
            </a:r>
            <a:r>
              <a:rPr lang="en-US" sz="45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45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giảng</a:t>
            </a:r>
            <a:r>
              <a:rPr lang="en-US" sz="45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45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dạy</a:t>
            </a:r>
            <a:endParaRPr lang="en-US" sz="4500" dirty="0" err="1">
              <a:solidFill>
                <a:srgbClr val="000000"/>
              </a:solidFill>
              <a:latin typeface="Noto Sans"/>
              <a:ea typeface="Poppins"/>
              <a:cs typeface="Poppins"/>
            </a:endParaRPr>
          </a:p>
          <a:p>
            <a:pPr algn="just">
              <a:lnSpc>
                <a:spcPts val="6301"/>
              </a:lnSpc>
              <a:spcBef>
                <a:spcPct val="0"/>
              </a:spcBef>
            </a:pPr>
            <a:endParaRPr lang="en-US" sz="45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4332025" y="2525854"/>
            <a:ext cx="8768568" cy="1033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60"/>
              </a:lnSpc>
            </a:pPr>
            <a:r>
              <a:rPr lang="en-US" sz="8000" b="1">
                <a:solidFill>
                  <a:srgbClr val="000000"/>
                </a:solidFill>
                <a:latin typeface="Oswald Bold"/>
                <a:ea typeface="Oswald Bold"/>
                <a:cs typeface="Oswald Bold"/>
                <a:sym typeface="Oswald Bold"/>
              </a:rPr>
              <a:t>MỤC TIÊU &amp; PHẠM VI</a:t>
            </a:r>
          </a:p>
        </p:txBody>
      </p:sp>
      <p:sp>
        <p:nvSpPr>
          <p:cNvPr id="6" name="Freeform 6"/>
          <p:cNvSpPr/>
          <p:nvPr/>
        </p:nvSpPr>
        <p:spPr>
          <a:xfrm>
            <a:off x="13269520" y="5329797"/>
            <a:ext cx="4684034" cy="4744417"/>
          </a:xfrm>
          <a:custGeom>
            <a:avLst/>
            <a:gdLst/>
            <a:ahLst/>
            <a:cxnLst/>
            <a:rect l="l" t="t" r="r" b="b"/>
            <a:pathLst>
              <a:path w="4684034" h="4744417">
                <a:moveTo>
                  <a:pt x="0" y="0"/>
                </a:moveTo>
                <a:lnTo>
                  <a:pt x="4684034" y="0"/>
                </a:lnTo>
                <a:lnTo>
                  <a:pt x="4684034" y="4744417"/>
                </a:lnTo>
                <a:lnTo>
                  <a:pt x="0" y="47444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080009" y="-1519728"/>
            <a:ext cx="6217418" cy="4114800"/>
          </a:xfrm>
          <a:custGeom>
            <a:avLst/>
            <a:gdLst/>
            <a:ahLst/>
            <a:cxnLst/>
            <a:rect l="l" t="t" r="r" b="b"/>
            <a:pathLst>
              <a:path w="6217418" h="4114800">
                <a:moveTo>
                  <a:pt x="0" y="0"/>
                </a:moveTo>
                <a:lnTo>
                  <a:pt x="6217418" y="0"/>
                </a:lnTo>
                <a:lnTo>
                  <a:pt x="62174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695454" y="6826250"/>
            <a:ext cx="6217418" cy="4114800"/>
          </a:xfrm>
          <a:custGeom>
            <a:avLst/>
            <a:gdLst/>
            <a:ahLst/>
            <a:cxnLst/>
            <a:rect l="l" t="t" r="r" b="b"/>
            <a:pathLst>
              <a:path w="6217418" h="4114800">
                <a:moveTo>
                  <a:pt x="0" y="0"/>
                </a:moveTo>
                <a:lnTo>
                  <a:pt x="6217418" y="0"/>
                </a:lnTo>
                <a:lnTo>
                  <a:pt x="62174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108709" y="3907158"/>
            <a:ext cx="13070477" cy="4807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71550" lvl="1" indent="-485775" algn="just">
              <a:lnSpc>
                <a:spcPts val="6301"/>
              </a:lnSpc>
              <a:buFont typeface="Arial"/>
              <a:buChar char="•"/>
            </a:pPr>
            <a:r>
              <a:rPr lang="en-US" sz="450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Bubble Sort</a:t>
            </a:r>
            <a:endParaRPr lang="en-US">
              <a:latin typeface="Noto Sans"/>
              <a:ea typeface="Noto Sans"/>
              <a:cs typeface="Noto Sans"/>
            </a:endParaRPr>
          </a:p>
          <a:p>
            <a:pPr marL="971550" lvl="1" indent="-485775" algn="just">
              <a:lnSpc>
                <a:spcPts val="6301"/>
              </a:lnSpc>
              <a:buFont typeface="Arial"/>
              <a:buChar char="•"/>
            </a:pPr>
            <a:r>
              <a:rPr lang="en-US" sz="450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Selection Sort</a:t>
            </a:r>
            <a:endParaRPr lang="en-US" sz="4500">
              <a:solidFill>
                <a:srgbClr val="000000"/>
              </a:solidFill>
              <a:latin typeface="Noto Sans"/>
              <a:ea typeface="Poppins"/>
              <a:cs typeface="Poppins"/>
            </a:endParaRPr>
          </a:p>
          <a:p>
            <a:pPr marL="971550" lvl="1" indent="-485775" algn="just">
              <a:lnSpc>
                <a:spcPts val="6301"/>
              </a:lnSpc>
              <a:buFont typeface="Arial"/>
              <a:buChar char="•"/>
            </a:pPr>
            <a:r>
              <a:rPr lang="en-US" sz="450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Insertion Sort</a:t>
            </a:r>
            <a:endParaRPr lang="en-US" sz="4500">
              <a:solidFill>
                <a:srgbClr val="000000"/>
              </a:solidFill>
              <a:latin typeface="Noto Sans"/>
              <a:ea typeface="Poppins"/>
              <a:cs typeface="Poppins"/>
            </a:endParaRPr>
          </a:p>
          <a:p>
            <a:pPr marL="971550" lvl="1" indent="-485775" algn="just">
              <a:lnSpc>
                <a:spcPts val="6301"/>
              </a:lnSpc>
              <a:buFont typeface="Arial"/>
              <a:buChar char="•"/>
            </a:pPr>
            <a:r>
              <a:rPr lang="en-US" sz="450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Interchange Sort</a:t>
            </a:r>
            <a:endParaRPr lang="en-US" sz="4500">
              <a:solidFill>
                <a:srgbClr val="000000"/>
              </a:solidFill>
              <a:latin typeface="Noto Sans"/>
              <a:ea typeface="Poppins"/>
              <a:cs typeface="Poppins"/>
            </a:endParaRPr>
          </a:p>
          <a:p>
            <a:pPr marL="971550" lvl="1" indent="-485775" algn="just">
              <a:lnSpc>
                <a:spcPts val="6301"/>
              </a:lnSpc>
              <a:buFont typeface="Arial"/>
              <a:buChar char="•"/>
            </a:pPr>
            <a:r>
              <a:rPr lang="en-US" sz="450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Quick Sort</a:t>
            </a:r>
            <a:endParaRPr lang="en-US" sz="4500">
              <a:solidFill>
                <a:srgbClr val="000000"/>
              </a:solidFill>
              <a:latin typeface="Noto Sans"/>
              <a:ea typeface="Poppins"/>
              <a:cs typeface="Poppins"/>
            </a:endParaRPr>
          </a:p>
          <a:p>
            <a:pPr algn="just">
              <a:lnSpc>
                <a:spcPts val="6301"/>
              </a:lnSpc>
              <a:spcBef>
                <a:spcPct val="0"/>
              </a:spcBef>
            </a:pPr>
            <a:endParaRPr lang="en-US" sz="45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3566684" y="2525854"/>
            <a:ext cx="11154632" cy="1033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60"/>
              </a:lnSpc>
            </a:pPr>
            <a:r>
              <a:rPr lang="en-US" sz="8000" b="1">
                <a:solidFill>
                  <a:srgbClr val="000000"/>
                </a:solidFill>
                <a:latin typeface="Oswald Bold"/>
                <a:ea typeface="Oswald Bold"/>
                <a:cs typeface="Oswald Bold"/>
                <a:sym typeface="Oswald Bold"/>
              </a:rPr>
              <a:t>CÁC THUẬT TOÁN SỬ DỤNG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3597698" y="-1769921"/>
            <a:ext cx="6217418" cy="4114800"/>
          </a:xfrm>
          <a:custGeom>
            <a:avLst/>
            <a:gdLst/>
            <a:ahLst/>
            <a:cxnLst/>
            <a:rect l="l" t="t" r="r" b="b"/>
            <a:pathLst>
              <a:path w="6217418" h="4114800">
                <a:moveTo>
                  <a:pt x="6217418" y="0"/>
                </a:moveTo>
                <a:lnTo>
                  <a:pt x="0" y="0"/>
                </a:lnTo>
                <a:lnTo>
                  <a:pt x="0" y="4114800"/>
                </a:lnTo>
                <a:lnTo>
                  <a:pt x="6217418" y="4114800"/>
                </a:lnTo>
                <a:lnTo>
                  <a:pt x="621741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3108709" y="7013575"/>
            <a:ext cx="6217418" cy="4114800"/>
          </a:xfrm>
          <a:custGeom>
            <a:avLst/>
            <a:gdLst/>
            <a:ahLst/>
            <a:cxnLst/>
            <a:rect l="l" t="t" r="r" b="b"/>
            <a:pathLst>
              <a:path w="6217418" h="4114800">
                <a:moveTo>
                  <a:pt x="6217418" y="0"/>
                </a:moveTo>
                <a:lnTo>
                  <a:pt x="0" y="0"/>
                </a:lnTo>
                <a:lnTo>
                  <a:pt x="0" y="4114800"/>
                </a:lnTo>
                <a:lnTo>
                  <a:pt x="6217418" y="4114800"/>
                </a:lnTo>
                <a:lnTo>
                  <a:pt x="621741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671546" y="3903163"/>
            <a:ext cx="12944907" cy="4196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493"/>
              </a:lnSpc>
            </a:pPr>
            <a:r>
              <a:rPr lang="en-US" sz="3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</a:t>
            </a:r>
            <a:r>
              <a:rPr lang="en-US" sz="34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 Bubble Sort           →  </a:t>
            </a:r>
            <a:r>
              <a:rPr lang="en-US" sz="34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Dễ</a:t>
            </a:r>
            <a:r>
              <a:rPr lang="en-US" sz="34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hiểu</a:t>
            </a:r>
            <a:r>
              <a:rPr lang="en-US" sz="34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, </a:t>
            </a:r>
            <a:r>
              <a:rPr lang="en-US" sz="34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tốc</a:t>
            </a:r>
            <a:r>
              <a:rPr lang="en-US" sz="34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độ</a:t>
            </a:r>
            <a:r>
              <a:rPr lang="en-US" sz="34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chậm</a:t>
            </a:r>
            <a:endParaRPr lang="en-US" sz="3400">
              <a:latin typeface="Noto Sans"/>
              <a:ea typeface="Noto Sans"/>
              <a:cs typeface="Noto Sans"/>
            </a:endParaRPr>
          </a:p>
          <a:p>
            <a:pPr algn="just">
              <a:lnSpc>
                <a:spcPts val="5493"/>
              </a:lnSpc>
              <a:spcBef>
                <a:spcPct val="0"/>
              </a:spcBef>
            </a:pPr>
            <a:r>
              <a:rPr lang="en-US" sz="34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     Selection Sort       →  </a:t>
            </a:r>
            <a:r>
              <a:rPr lang="en-US" sz="34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Ít</a:t>
            </a:r>
            <a:r>
              <a:rPr lang="en-US" sz="34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hoán</a:t>
            </a:r>
            <a:r>
              <a:rPr lang="en-US" sz="34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đổi</a:t>
            </a:r>
            <a:r>
              <a:rPr lang="en-US" sz="34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, </a:t>
            </a:r>
            <a:r>
              <a:rPr lang="en-US" sz="34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không</a:t>
            </a:r>
            <a:r>
              <a:rPr lang="en-US" sz="34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ổn</a:t>
            </a:r>
            <a:r>
              <a:rPr lang="en-US" sz="34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định</a:t>
            </a:r>
            <a:endParaRPr lang="en-US" sz="3400" dirty="0">
              <a:solidFill>
                <a:srgbClr val="000000"/>
              </a:solidFill>
              <a:latin typeface="Noto Sans"/>
              <a:ea typeface="Poppins"/>
              <a:cs typeface="Poppins"/>
            </a:endParaRPr>
          </a:p>
          <a:p>
            <a:pPr algn="just">
              <a:lnSpc>
                <a:spcPts val="5493"/>
              </a:lnSpc>
              <a:spcBef>
                <a:spcPct val="0"/>
              </a:spcBef>
            </a:pPr>
            <a:r>
              <a:rPr lang="en-US" sz="34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     Insertion Sort       →  </a:t>
            </a:r>
            <a:r>
              <a:rPr lang="en-US" sz="34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Tốt</a:t>
            </a:r>
            <a:r>
              <a:rPr lang="en-US" sz="34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với</a:t>
            </a:r>
            <a:r>
              <a:rPr lang="en-US" sz="34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mảng</a:t>
            </a:r>
            <a:r>
              <a:rPr lang="en-US" sz="34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nhỏ</a:t>
            </a:r>
            <a:endParaRPr lang="en-US" sz="3400" dirty="0">
              <a:solidFill>
                <a:srgbClr val="000000"/>
              </a:solidFill>
              <a:latin typeface="Noto Sans"/>
              <a:ea typeface="Poppins"/>
              <a:cs typeface="Poppins"/>
            </a:endParaRPr>
          </a:p>
          <a:p>
            <a:pPr algn="just">
              <a:lnSpc>
                <a:spcPts val="5493"/>
              </a:lnSpc>
              <a:spcBef>
                <a:spcPct val="0"/>
              </a:spcBef>
            </a:pPr>
            <a:r>
              <a:rPr lang="en-US" sz="34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     Interchange Sort →  </a:t>
            </a:r>
            <a:r>
              <a:rPr lang="en-US" sz="34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Đơn</a:t>
            </a:r>
            <a:r>
              <a:rPr lang="en-US" sz="34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giản</a:t>
            </a:r>
            <a:r>
              <a:rPr lang="en-US" sz="34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, </a:t>
            </a:r>
            <a:r>
              <a:rPr lang="en-US" sz="34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hiệu</a:t>
            </a:r>
            <a:r>
              <a:rPr lang="en-US" sz="34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suất</a:t>
            </a:r>
            <a:r>
              <a:rPr lang="en-US" sz="34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thấp</a:t>
            </a:r>
            <a:endParaRPr lang="en-US" sz="3400" dirty="0">
              <a:solidFill>
                <a:srgbClr val="000000"/>
              </a:solidFill>
              <a:latin typeface="Noto Sans"/>
              <a:ea typeface="Poppins"/>
              <a:cs typeface="Poppins"/>
            </a:endParaRPr>
          </a:p>
          <a:p>
            <a:pPr algn="just">
              <a:lnSpc>
                <a:spcPts val="5493"/>
              </a:lnSpc>
              <a:spcBef>
                <a:spcPct val="0"/>
              </a:spcBef>
            </a:pPr>
            <a:r>
              <a:rPr lang="en-US" sz="34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     Quick Sort             →  Nhanh </a:t>
            </a:r>
            <a:r>
              <a:rPr lang="en-US" sz="34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nhất</a:t>
            </a:r>
            <a:r>
              <a:rPr lang="en-US" sz="34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, </a:t>
            </a:r>
            <a:r>
              <a:rPr lang="en-US" sz="34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dùng</a:t>
            </a:r>
            <a:r>
              <a:rPr lang="en-US" sz="34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phổ</a:t>
            </a:r>
            <a:r>
              <a:rPr lang="en-US" sz="34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biến</a:t>
            </a:r>
            <a:endParaRPr lang="en-US" sz="3400" dirty="0">
              <a:solidFill>
                <a:srgbClr val="000000"/>
              </a:solidFill>
              <a:latin typeface="Noto Sans"/>
              <a:ea typeface="Poppins"/>
              <a:cs typeface="Poppins"/>
            </a:endParaRPr>
          </a:p>
          <a:p>
            <a:pPr algn="just">
              <a:lnSpc>
                <a:spcPts val="5493"/>
              </a:lnSpc>
              <a:spcBef>
                <a:spcPct val="0"/>
              </a:spcBef>
            </a:pPr>
            <a:endParaRPr lang="en-US" sz="3900" dirty="0">
              <a:solidFill>
                <a:srgbClr val="000000"/>
              </a:solidFill>
              <a:latin typeface="Noto Sans"/>
              <a:ea typeface="Poppins"/>
              <a:cs typeface="Poppin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4602146" y="2525854"/>
            <a:ext cx="9083709" cy="1033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60"/>
              </a:lnSpc>
            </a:pPr>
            <a:r>
              <a:rPr lang="en-US" sz="8000" b="1">
                <a:solidFill>
                  <a:srgbClr val="000000"/>
                </a:solidFill>
                <a:latin typeface="Oswald Bold"/>
                <a:ea typeface="Oswald Bold"/>
                <a:cs typeface="Oswald Bold"/>
                <a:sym typeface="Oswald Bold"/>
              </a:rPr>
              <a:t>SO SÁNH THUẬT TOÁN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080009" y="-1519728"/>
            <a:ext cx="6217418" cy="4114800"/>
          </a:xfrm>
          <a:custGeom>
            <a:avLst/>
            <a:gdLst/>
            <a:ahLst/>
            <a:cxnLst/>
            <a:rect l="l" t="t" r="r" b="b"/>
            <a:pathLst>
              <a:path w="6217418" h="4114800">
                <a:moveTo>
                  <a:pt x="0" y="0"/>
                </a:moveTo>
                <a:lnTo>
                  <a:pt x="6217418" y="0"/>
                </a:lnTo>
                <a:lnTo>
                  <a:pt x="62174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695454" y="6826250"/>
            <a:ext cx="6217418" cy="4114800"/>
          </a:xfrm>
          <a:custGeom>
            <a:avLst/>
            <a:gdLst/>
            <a:ahLst/>
            <a:cxnLst/>
            <a:rect l="l" t="t" r="r" b="b"/>
            <a:pathLst>
              <a:path w="6217418" h="4114800">
                <a:moveTo>
                  <a:pt x="0" y="0"/>
                </a:moveTo>
                <a:lnTo>
                  <a:pt x="6217418" y="0"/>
                </a:lnTo>
                <a:lnTo>
                  <a:pt x="62174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420538" y="3804133"/>
            <a:ext cx="13446925" cy="4577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23290" lvl="1" indent="-461645" algn="just">
              <a:lnSpc>
                <a:spcPts val="5987"/>
              </a:lnSpc>
              <a:buFont typeface="Arial"/>
              <a:buChar char="•"/>
            </a:pPr>
            <a:r>
              <a:rPr lang="en-US" sz="425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Bubble Sort: so </a:t>
            </a:r>
            <a:r>
              <a:rPr lang="en-US" sz="425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sánh</a:t>
            </a:r>
            <a:r>
              <a:rPr lang="en-US" sz="425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425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các</a:t>
            </a:r>
            <a:r>
              <a:rPr lang="en-US" sz="425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425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phần</a:t>
            </a:r>
            <a:r>
              <a:rPr lang="en-US" sz="425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425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tử</a:t>
            </a:r>
            <a:r>
              <a:rPr lang="en-US" sz="425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425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liền</a:t>
            </a:r>
            <a:r>
              <a:rPr lang="en-US" sz="425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425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kề</a:t>
            </a:r>
            <a:endParaRPr lang="en-US" dirty="0" err="1">
              <a:latin typeface="Noto Sans"/>
              <a:ea typeface="Noto Sans"/>
              <a:cs typeface="Noto Sans"/>
            </a:endParaRPr>
          </a:p>
          <a:p>
            <a:pPr marL="923290" lvl="1" indent="-461645" algn="just">
              <a:lnSpc>
                <a:spcPts val="5987"/>
              </a:lnSpc>
              <a:buFont typeface="Arial"/>
              <a:buChar char="•"/>
            </a:pPr>
            <a:r>
              <a:rPr lang="en-US" sz="425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Selection Sort: </a:t>
            </a:r>
            <a:r>
              <a:rPr lang="en-US" sz="425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chọn</a:t>
            </a:r>
            <a:r>
              <a:rPr lang="en-US" sz="425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425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phần</a:t>
            </a:r>
            <a:r>
              <a:rPr lang="en-US" sz="425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425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tử</a:t>
            </a:r>
            <a:r>
              <a:rPr lang="en-US" sz="425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425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nhỏ</a:t>
            </a:r>
            <a:r>
              <a:rPr lang="en-US" sz="425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425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nhất</a:t>
            </a:r>
            <a:endParaRPr lang="en-US" sz="4250" dirty="0" err="1">
              <a:solidFill>
                <a:srgbClr val="000000"/>
              </a:solidFill>
              <a:latin typeface="Noto Sans"/>
              <a:ea typeface="Poppins"/>
              <a:cs typeface="Poppins"/>
            </a:endParaRPr>
          </a:p>
          <a:p>
            <a:pPr marL="923290" lvl="1" indent="-461645" algn="just">
              <a:lnSpc>
                <a:spcPts val="5987"/>
              </a:lnSpc>
              <a:buFont typeface="Arial"/>
              <a:buChar char="•"/>
            </a:pPr>
            <a:r>
              <a:rPr lang="en-US" sz="425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Insertion Sort: </a:t>
            </a:r>
            <a:r>
              <a:rPr lang="en-US" sz="425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chèn</a:t>
            </a:r>
            <a:r>
              <a:rPr lang="en-US" sz="425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425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phần</a:t>
            </a:r>
            <a:r>
              <a:rPr lang="en-US" sz="425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425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tử</a:t>
            </a:r>
            <a:r>
              <a:rPr lang="en-US" sz="425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425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vào</a:t>
            </a:r>
            <a:r>
              <a:rPr lang="en-US" sz="425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425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vị</a:t>
            </a:r>
            <a:r>
              <a:rPr lang="en-US" sz="425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425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trí</a:t>
            </a:r>
            <a:r>
              <a:rPr lang="en-US" sz="425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425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phù</a:t>
            </a:r>
            <a:r>
              <a:rPr lang="en-US" sz="425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425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hợp</a:t>
            </a:r>
            <a:endParaRPr lang="en-US" sz="4250" dirty="0" err="1">
              <a:solidFill>
                <a:srgbClr val="000000"/>
              </a:solidFill>
              <a:latin typeface="Noto Sans"/>
              <a:ea typeface="Poppins"/>
              <a:cs typeface="Poppins"/>
            </a:endParaRPr>
          </a:p>
          <a:p>
            <a:pPr marL="923290" lvl="1" indent="-461645" algn="just">
              <a:lnSpc>
                <a:spcPts val="5987"/>
              </a:lnSpc>
              <a:buFont typeface="Arial"/>
              <a:buChar char="•"/>
            </a:pPr>
            <a:r>
              <a:rPr lang="en-US" sz="425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Interchange Sort: so </a:t>
            </a:r>
            <a:r>
              <a:rPr lang="en-US" sz="425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sánh</a:t>
            </a:r>
            <a:r>
              <a:rPr lang="en-US" sz="425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425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từng</a:t>
            </a:r>
            <a:r>
              <a:rPr lang="en-US" sz="425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425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cặp</a:t>
            </a:r>
            <a:r>
              <a:rPr lang="en-US" sz="425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425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phần</a:t>
            </a:r>
            <a:r>
              <a:rPr lang="en-US" sz="425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425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tử</a:t>
            </a:r>
            <a:endParaRPr lang="en-US" sz="4250" dirty="0" err="1">
              <a:solidFill>
                <a:srgbClr val="000000"/>
              </a:solidFill>
              <a:latin typeface="Noto Sans"/>
              <a:ea typeface="Poppins"/>
              <a:cs typeface="Poppins"/>
            </a:endParaRPr>
          </a:p>
          <a:p>
            <a:pPr marL="923290" lvl="1" indent="-461645" algn="just">
              <a:lnSpc>
                <a:spcPts val="5987"/>
              </a:lnSpc>
              <a:buFont typeface="Arial"/>
              <a:buChar char="•"/>
            </a:pPr>
            <a:r>
              <a:rPr lang="en-US" sz="425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Quick Sort: chia </a:t>
            </a:r>
            <a:r>
              <a:rPr lang="en-US" sz="425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mảng</a:t>
            </a:r>
            <a:r>
              <a:rPr lang="en-US" sz="425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425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để</a:t>
            </a:r>
            <a:r>
              <a:rPr lang="en-US" sz="425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425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sắp</a:t>
            </a:r>
            <a:r>
              <a:rPr lang="en-US" sz="425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425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xếp</a:t>
            </a:r>
            <a:r>
              <a:rPr lang="en-US" sz="425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425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nhanh</a:t>
            </a:r>
            <a:endParaRPr lang="en-US" sz="4250" dirty="0" err="1">
              <a:solidFill>
                <a:srgbClr val="000000"/>
              </a:solidFill>
              <a:latin typeface="Noto Sans"/>
              <a:ea typeface="Poppins"/>
              <a:cs typeface="Poppins"/>
            </a:endParaRPr>
          </a:p>
          <a:p>
            <a:pPr algn="just">
              <a:lnSpc>
                <a:spcPts val="5987"/>
              </a:lnSpc>
              <a:spcBef>
                <a:spcPct val="0"/>
              </a:spcBef>
            </a:pPr>
            <a:endParaRPr lang="en-US" sz="4277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4557126" y="2506320"/>
            <a:ext cx="9173749" cy="1033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60"/>
              </a:lnSpc>
            </a:pPr>
            <a:r>
              <a:rPr lang="en-US" sz="8000" b="1">
                <a:solidFill>
                  <a:srgbClr val="000000"/>
                </a:solidFill>
                <a:latin typeface="Oswald Bold"/>
                <a:ea typeface="Oswald Bold"/>
                <a:cs typeface="Oswald Bold"/>
                <a:sym typeface="Oswald Bold"/>
              </a:rPr>
              <a:t>Ý TƯỞNG HOẠT ĐỘNG</a:t>
            </a:r>
          </a:p>
        </p:txBody>
      </p:sp>
      <p:sp>
        <p:nvSpPr>
          <p:cNvPr id="6" name="Freeform 6"/>
          <p:cNvSpPr/>
          <p:nvPr/>
        </p:nvSpPr>
        <p:spPr>
          <a:xfrm>
            <a:off x="14149974" y="703874"/>
            <a:ext cx="4137379" cy="4142558"/>
          </a:xfrm>
          <a:custGeom>
            <a:avLst/>
            <a:gdLst/>
            <a:ahLst/>
            <a:cxnLst/>
            <a:rect l="l" t="t" r="r" b="b"/>
            <a:pathLst>
              <a:path w="4137379" h="4142558">
                <a:moveTo>
                  <a:pt x="0" y="0"/>
                </a:moveTo>
                <a:lnTo>
                  <a:pt x="4137380" y="0"/>
                </a:lnTo>
                <a:lnTo>
                  <a:pt x="4137380" y="4142558"/>
                </a:lnTo>
                <a:lnTo>
                  <a:pt x="0" y="41425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695454" y="6826250"/>
            <a:ext cx="6217418" cy="4114800"/>
          </a:xfrm>
          <a:custGeom>
            <a:avLst/>
            <a:gdLst/>
            <a:ahLst/>
            <a:cxnLst/>
            <a:rect l="l" t="t" r="r" b="b"/>
            <a:pathLst>
              <a:path w="6217418" h="4114800">
                <a:moveTo>
                  <a:pt x="0" y="0"/>
                </a:moveTo>
                <a:lnTo>
                  <a:pt x="6217418" y="0"/>
                </a:lnTo>
                <a:lnTo>
                  <a:pt x="62174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080009" y="-1519728"/>
            <a:ext cx="6217418" cy="4114800"/>
          </a:xfrm>
          <a:custGeom>
            <a:avLst/>
            <a:gdLst/>
            <a:ahLst/>
            <a:cxnLst/>
            <a:rect l="l" t="t" r="r" b="b"/>
            <a:pathLst>
              <a:path w="6217418" h="4114800">
                <a:moveTo>
                  <a:pt x="0" y="0"/>
                </a:moveTo>
                <a:lnTo>
                  <a:pt x="6217418" y="0"/>
                </a:lnTo>
                <a:lnTo>
                  <a:pt x="62174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831694" y="2194329"/>
            <a:ext cx="4611430" cy="5898341"/>
          </a:xfrm>
          <a:custGeom>
            <a:avLst/>
            <a:gdLst/>
            <a:ahLst/>
            <a:cxnLst/>
            <a:rect l="l" t="t" r="r" b="b"/>
            <a:pathLst>
              <a:path w="4611430" h="5898341">
                <a:moveTo>
                  <a:pt x="0" y="0"/>
                </a:moveTo>
                <a:lnTo>
                  <a:pt x="4611430" y="0"/>
                </a:lnTo>
                <a:lnTo>
                  <a:pt x="4611430" y="5898342"/>
                </a:lnTo>
                <a:lnTo>
                  <a:pt x="0" y="58983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7073405" y="3854102"/>
            <a:ext cx="9645105" cy="2380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25170" lvl="1" indent="-362585" algn="just">
              <a:lnSpc>
                <a:spcPts val="4705"/>
              </a:lnSpc>
              <a:buFont typeface="Arial"/>
              <a:buChar char="•"/>
            </a:pPr>
            <a:r>
              <a:rPr lang="en-US" sz="34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Chương</a:t>
            </a:r>
            <a:r>
              <a:rPr lang="en-US" sz="34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trình</a:t>
            </a:r>
            <a:r>
              <a:rPr lang="en-US" sz="34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mô</a:t>
            </a:r>
            <a:r>
              <a:rPr lang="en-US" sz="34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phỏng</a:t>
            </a:r>
            <a:r>
              <a:rPr lang="en-US" sz="34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thuật</a:t>
            </a:r>
            <a:r>
              <a:rPr lang="en-US" sz="34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toán</a:t>
            </a:r>
            <a:r>
              <a:rPr lang="en-US" sz="34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sắp</a:t>
            </a:r>
            <a:r>
              <a:rPr lang="en-US" sz="34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xếp</a:t>
            </a:r>
            <a:endParaRPr lang="en-US" sz="3400" dirty="0">
              <a:solidFill>
                <a:srgbClr val="000000"/>
              </a:solidFill>
              <a:latin typeface="Noto Sans"/>
              <a:ea typeface="Poppins"/>
              <a:cs typeface="Poppins"/>
            </a:endParaRPr>
          </a:p>
          <a:p>
            <a:pPr marL="725170" lvl="1" indent="-362585" algn="just">
              <a:lnSpc>
                <a:spcPts val="4705"/>
              </a:lnSpc>
              <a:spcBef>
                <a:spcPct val="0"/>
              </a:spcBef>
              <a:buFont typeface="Arial"/>
              <a:buChar char="•"/>
            </a:pPr>
            <a:r>
              <a:rPr lang="en-US" sz="34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Hiển </a:t>
            </a:r>
            <a:r>
              <a:rPr lang="en-US" sz="34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thị</a:t>
            </a:r>
            <a:r>
              <a:rPr lang="en-US" sz="34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trực</a:t>
            </a:r>
            <a:r>
              <a:rPr lang="en-US" sz="34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quan</a:t>
            </a:r>
            <a:r>
              <a:rPr lang="en-US" sz="34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từng</a:t>
            </a:r>
            <a:r>
              <a:rPr lang="en-US" sz="34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bước</a:t>
            </a:r>
            <a:r>
              <a:rPr lang="en-US" sz="34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thực</a:t>
            </a:r>
            <a:r>
              <a:rPr lang="en-US" sz="34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hiện</a:t>
            </a:r>
            <a:endParaRPr lang="en-US" sz="3400" dirty="0">
              <a:solidFill>
                <a:srgbClr val="000000"/>
              </a:solidFill>
              <a:latin typeface="Noto Sans"/>
              <a:ea typeface="Poppins"/>
              <a:cs typeface="Poppins"/>
            </a:endParaRPr>
          </a:p>
          <a:p>
            <a:pPr marL="725170" lvl="1" indent="-362585" algn="just">
              <a:lnSpc>
                <a:spcPts val="4705"/>
              </a:lnSpc>
              <a:spcBef>
                <a:spcPct val="0"/>
              </a:spcBef>
              <a:buFont typeface="Arial"/>
              <a:buChar char="•"/>
            </a:pPr>
            <a:r>
              <a:rPr lang="en-US" sz="34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Cho </a:t>
            </a:r>
            <a:r>
              <a:rPr lang="en-US" sz="34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phép</a:t>
            </a:r>
            <a:r>
              <a:rPr lang="en-US" sz="34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người</a:t>
            </a:r>
            <a:r>
              <a:rPr lang="en-US" sz="34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dùng</a:t>
            </a:r>
            <a:r>
              <a:rPr lang="en-US" sz="34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chọn</a:t>
            </a:r>
            <a:r>
              <a:rPr lang="en-US" sz="34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thuật</a:t>
            </a:r>
            <a:r>
              <a:rPr lang="en-US" sz="34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toán</a:t>
            </a:r>
            <a:endParaRPr lang="en-US" sz="3400" dirty="0" err="1">
              <a:solidFill>
                <a:srgbClr val="000000"/>
              </a:solidFill>
              <a:latin typeface="Noto Sans"/>
              <a:ea typeface="Poppins"/>
              <a:cs typeface="Poppins"/>
            </a:endParaRPr>
          </a:p>
          <a:p>
            <a:pPr algn="just">
              <a:lnSpc>
                <a:spcPts val="4705"/>
              </a:lnSpc>
              <a:spcBef>
                <a:spcPct val="0"/>
              </a:spcBef>
            </a:pPr>
            <a:endParaRPr lang="en-US" sz="3361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7591685" y="2728422"/>
            <a:ext cx="9445609" cy="775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20"/>
              </a:lnSpc>
            </a:pPr>
            <a:r>
              <a:rPr lang="en-US" sz="6000" b="1">
                <a:solidFill>
                  <a:srgbClr val="000000"/>
                </a:solidFill>
                <a:latin typeface="Oswald Bold"/>
                <a:ea typeface="Oswald Bold"/>
                <a:cs typeface="Oswald Bold"/>
                <a:sym typeface="Oswald Bold"/>
              </a:rPr>
              <a:t>TỔNG QUAN CHƯƠNG TRÌNH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3597698" y="-1769921"/>
            <a:ext cx="6217418" cy="4114800"/>
          </a:xfrm>
          <a:custGeom>
            <a:avLst/>
            <a:gdLst/>
            <a:ahLst/>
            <a:cxnLst/>
            <a:rect l="l" t="t" r="r" b="b"/>
            <a:pathLst>
              <a:path w="6217418" h="4114800">
                <a:moveTo>
                  <a:pt x="6217418" y="0"/>
                </a:moveTo>
                <a:lnTo>
                  <a:pt x="0" y="0"/>
                </a:lnTo>
                <a:lnTo>
                  <a:pt x="0" y="4114800"/>
                </a:lnTo>
                <a:lnTo>
                  <a:pt x="6217418" y="4114800"/>
                </a:lnTo>
                <a:lnTo>
                  <a:pt x="621741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3108709" y="7013575"/>
            <a:ext cx="6217418" cy="4114800"/>
          </a:xfrm>
          <a:custGeom>
            <a:avLst/>
            <a:gdLst/>
            <a:ahLst/>
            <a:cxnLst/>
            <a:rect l="l" t="t" r="r" b="b"/>
            <a:pathLst>
              <a:path w="6217418" h="4114800">
                <a:moveTo>
                  <a:pt x="6217418" y="0"/>
                </a:moveTo>
                <a:lnTo>
                  <a:pt x="0" y="0"/>
                </a:lnTo>
                <a:lnTo>
                  <a:pt x="0" y="4114800"/>
                </a:lnTo>
                <a:lnTo>
                  <a:pt x="6217418" y="4114800"/>
                </a:lnTo>
                <a:lnTo>
                  <a:pt x="621741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919032" y="2195666"/>
            <a:ext cx="2350897" cy="5895667"/>
          </a:xfrm>
          <a:custGeom>
            <a:avLst/>
            <a:gdLst/>
            <a:ahLst/>
            <a:cxnLst/>
            <a:rect l="l" t="t" r="r" b="b"/>
            <a:pathLst>
              <a:path w="2350897" h="5895667">
                <a:moveTo>
                  <a:pt x="0" y="0"/>
                </a:moveTo>
                <a:lnTo>
                  <a:pt x="2350897" y="0"/>
                </a:lnTo>
                <a:lnTo>
                  <a:pt x="2350897" y="5895668"/>
                </a:lnTo>
                <a:lnTo>
                  <a:pt x="0" y="58956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038304" y="3994784"/>
            <a:ext cx="7105696" cy="3018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3425" lvl="1" indent="-366395" algn="just">
              <a:lnSpc>
                <a:spcPts val="4759"/>
              </a:lnSpc>
              <a:buFont typeface="Arial"/>
              <a:buChar char="•"/>
            </a:pPr>
            <a:r>
              <a:rPr lang="en-US" sz="34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Nhập</a:t>
            </a:r>
            <a:r>
              <a:rPr lang="en-US" sz="34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dữ</a:t>
            </a:r>
            <a:r>
              <a:rPr lang="en-US" sz="34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liệu</a:t>
            </a:r>
            <a:r>
              <a:rPr lang="en-US" sz="34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cần</a:t>
            </a:r>
            <a:r>
              <a:rPr lang="en-US" sz="34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sắp</a:t>
            </a:r>
            <a:r>
              <a:rPr lang="en-US" sz="34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xếp</a:t>
            </a:r>
            <a:endParaRPr lang="en-US" sz="3400" dirty="0">
              <a:solidFill>
                <a:srgbClr val="000000"/>
              </a:solidFill>
              <a:latin typeface="Noto Sans"/>
              <a:ea typeface="Poppins"/>
              <a:cs typeface="Poppins"/>
            </a:endParaRPr>
          </a:p>
          <a:p>
            <a:pPr marL="733425" lvl="1" indent="-366395" algn="just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4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Chọn</a:t>
            </a:r>
            <a:r>
              <a:rPr lang="en-US" sz="34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thuật</a:t>
            </a:r>
            <a:r>
              <a:rPr lang="en-US" sz="34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toán</a:t>
            </a:r>
            <a:r>
              <a:rPr lang="en-US" sz="34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sắp</a:t>
            </a:r>
            <a:r>
              <a:rPr lang="en-US" sz="34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xếp</a:t>
            </a:r>
            <a:endParaRPr lang="en-US" sz="3400" dirty="0">
              <a:solidFill>
                <a:srgbClr val="000000"/>
              </a:solidFill>
              <a:latin typeface="Noto Sans"/>
              <a:ea typeface="Poppins"/>
              <a:cs typeface="Poppins"/>
            </a:endParaRPr>
          </a:p>
          <a:p>
            <a:pPr marL="733425" lvl="1" indent="-366395" algn="just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4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Mô</a:t>
            </a:r>
            <a:r>
              <a:rPr lang="en-US" sz="34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phỏng</a:t>
            </a:r>
            <a:r>
              <a:rPr lang="en-US" sz="34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quá</a:t>
            </a:r>
            <a:r>
              <a:rPr lang="en-US" sz="34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trình</a:t>
            </a:r>
            <a:r>
              <a:rPr lang="en-US" sz="34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sắp</a:t>
            </a:r>
            <a:r>
              <a:rPr lang="en-US" sz="34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xếp</a:t>
            </a:r>
            <a:endParaRPr lang="en-US" sz="3400" dirty="0">
              <a:solidFill>
                <a:srgbClr val="000000"/>
              </a:solidFill>
              <a:latin typeface="Noto Sans"/>
              <a:ea typeface="Poppins"/>
              <a:cs typeface="Poppins"/>
            </a:endParaRPr>
          </a:p>
          <a:p>
            <a:pPr marL="733425" lvl="1" indent="-366395" algn="just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4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Hiển </a:t>
            </a:r>
            <a:r>
              <a:rPr lang="en-US" sz="34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thị</a:t>
            </a:r>
            <a:r>
              <a:rPr lang="en-US" sz="34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kết</a:t>
            </a:r>
            <a:r>
              <a:rPr lang="en-US" sz="34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quả</a:t>
            </a:r>
            <a:r>
              <a:rPr lang="en-US" sz="34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sau</a:t>
            </a:r>
            <a:r>
              <a:rPr lang="en-US" sz="34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sắp</a:t>
            </a:r>
            <a:r>
              <a:rPr lang="en-US" sz="34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xếp</a:t>
            </a:r>
            <a:endParaRPr lang="en-US" sz="3400" dirty="0" err="1">
              <a:solidFill>
                <a:srgbClr val="000000"/>
              </a:solidFill>
              <a:latin typeface="Noto Sans"/>
              <a:ea typeface="Poppins"/>
              <a:cs typeface="Poppins"/>
            </a:endParaRPr>
          </a:p>
          <a:p>
            <a:pPr algn="just">
              <a:lnSpc>
                <a:spcPts val="4759"/>
              </a:lnSpc>
              <a:spcBef>
                <a:spcPct val="0"/>
              </a:spcBef>
            </a:pPr>
            <a:endParaRPr lang="en-US" sz="3399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038304" y="2844751"/>
            <a:ext cx="7987608" cy="775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20"/>
              </a:lnSpc>
            </a:pPr>
            <a:r>
              <a:rPr lang="en-US" sz="6000" b="1">
                <a:solidFill>
                  <a:srgbClr val="000000"/>
                </a:solidFill>
                <a:latin typeface="Oswald Bold"/>
                <a:ea typeface="Oswald Bold"/>
                <a:cs typeface="Oswald Bold"/>
                <a:sym typeface="Oswald Bold"/>
              </a:rPr>
              <a:t>CÁC CHỨC NĂNG CHÍNH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3108709" y="7013575"/>
            <a:ext cx="6217418" cy="4114800"/>
          </a:xfrm>
          <a:custGeom>
            <a:avLst/>
            <a:gdLst/>
            <a:ahLst/>
            <a:cxnLst/>
            <a:rect l="l" t="t" r="r" b="b"/>
            <a:pathLst>
              <a:path w="6217418" h="4114800">
                <a:moveTo>
                  <a:pt x="6217418" y="0"/>
                </a:moveTo>
                <a:lnTo>
                  <a:pt x="0" y="0"/>
                </a:lnTo>
                <a:lnTo>
                  <a:pt x="0" y="4114800"/>
                </a:lnTo>
                <a:lnTo>
                  <a:pt x="6217418" y="4114800"/>
                </a:lnTo>
                <a:lnTo>
                  <a:pt x="621741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040281" y="3858067"/>
            <a:ext cx="4647105" cy="4114800"/>
          </a:xfrm>
          <a:custGeom>
            <a:avLst/>
            <a:gdLst/>
            <a:ahLst/>
            <a:cxnLst/>
            <a:rect l="l" t="t" r="r" b="b"/>
            <a:pathLst>
              <a:path w="4647105" h="4114800">
                <a:moveTo>
                  <a:pt x="0" y="0"/>
                </a:moveTo>
                <a:lnTo>
                  <a:pt x="4647105" y="0"/>
                </a:lnTo>
                <a:lnTo>
                  <a:pt x="464710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353489" y="2585148"/>
            <a:ext cx="4020689" cy="1033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60"/>
              </a:lnSpc>
            </a:pPr>
            <a:r>
              <a:rPr lang="en-US" sz="8000" b="1">
                <a:solidFill>
                  <a:srgbClr val="000000"/>
                </a:solidFill>
                <a:latin typeface="Oswald Bold"/>
                <a:ea typeface="Oswald Bold"/>
                <a:cs typeface="Oswald Bold"/>
                <a:sym typeface="Oswald Bold"/>
              </a:rPr>
              <a:t>INTERNET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918900" y="4257040"/>
            <a:ext cx="6565455" cy="1689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3425" lvl="1" indent="-366395" algn="just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4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Mảng</a:t>
            </a:r>
            <a:r>
              <a:rPr lang="en-US" sz="34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số</a:t>
            </a:r>
            <a:r>
              <a:rPr lang="en-US" sz="34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cần</a:t>
            </a:r>
            <a:r>
              <a:rPr lang="en-US" sz="34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sắp</a:t>
            </a:r>
            <a:r>
              <a:rPr lang="en-US" sz="34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xếp</a:t>
            </a:r>
            <a:endParaRPr lang="en-US" sz="3400" dirty="0">
              <a:solidFill>
                <a:srgbClr val="000000"/>
              </a:solidFill>
              <a:latin typeface="Noto Sans"/>
              <a:ea typeface="Poppins"/>
              <a:cs typeface="Poppins"/>
            </a:endParaRPr>
          </a:p>
          <a:p>
            <a:pPr marL="733425" lvl="1" indent="-366395" algn="just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4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Thuật</a:t>
            </a:r>
            <a:r>
              <a:rPr lang="en-US" sz="34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toán</a:t>
            </a:r>
            <a:r>
              <a:rPr lang="en-US" sz="34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được</a:t>
            </a:r>
            <a:r>
              <a:rPr lang="en-US" sz="34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lựa</a:t>
            </a:r>
            <a:r>
              <a:rPr lang="en-US" sz="34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chọn</a:t>
            </a:r>
            <a:endParaRPr lang="en-US" sz="3400" dirty="0" err="1">
              <a:solidFill>
                <a:srgbClr val="000000"/>
              </a:solidFill>
              <a:latin typeface="Noto Sans"/>
              <a:ea typeface="Poppins"/>
              <a:cs typeface="Poppins"/>
            </a:endParaRPr>
          </a:p>
          <a:p>
            <a:pPr algn="just">
              <a:lnSpc>
                <a:spcPts val="3499"/>
              </a:lnSpc>
              <a:spcBef>
                <a:spcPct val="0"/>
              </a:spcBef>
            </a:pPr>
            <a:endParaRPr lang="en-US" sz="3399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9343315" y="3082727"/>
            <a:ext cx="6141040" cy="775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20"/>
              </a:lnSpc>
            </a:pPr>
            <a:r>
              <a:rPr lang="en-US" sz="6000" b="1">
                <a:solidFill>
                  <a:srgbClr val="000000"/>
                </a:solidFill>
                <a:latin typeface="Oswald Bold"/>
                <a:ea typeface="Oswald Bold"/>
                <a:cs typeface="Oswald Bold"/>
                <a:sym typeface="Oswald Bold"/>
              </a:rPr>
              <a:t>DỮ LIỆU ĐẦU VÀO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3108709" y="7013575"/>
            <a:ext cx="6217418" cy="4114800"/>
          </a:xfrm>
          <a:custGeom>
            <a:avLst/>
            <a:gdLst/>
            <a:ahLst/>
            <a:cxnLst/>
            <a:rect l="l" t="t" r="r" b="b"/>
            <a:pathLst>
              <a:path w="6217418" h="4114800">
                <a:moveTo>
                  <a:pt x="6217418" y="0"/>
                </a:moveTo>
                <a:lnTo>
                  <a:pt x="0" y="0"/>
                </a:lnTo>
                <a:lnTo>
                  <a:pt x="0" y="4114800"/>
                </a:lnTo>
                <a:lnTo>
                  <a:pt x="6217418" y="4114800"/>
                </a:lnTo>
                <a:lnTo>
                  <a:pt x="621741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641929" y="2927896"/>
            <a:ext cx="5004143" cy="6143079"/>
          </a:xfrm>
          <a:custGeom>
            <a:avLst/>
            <a:gdLst/>
            <a:ahLst/>
            <a:cxnLst/>
            <a:rect l="l" t="t" r="r" b="b"/>
            <a:pathLst>
              <a:path w="5004143" h="6143079">
                <a:moveTo>
                  <a:pt x="0" y="0"/>
                </a:moveTo>
                <a:lnTo>
                  <a:pt x="5004142" y="0"/>
                </a:lnTo>
                <a:lnTo>
                  <a:pt x="5004142" y="6143079"/>
                </a:lnTo>
                <a:lnTo>
                  <a:pt x="0" y="61430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6323739" y="1342368"/>
            <a:ext cx="6195213" cy="12353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NHẬP DỮ LIỆU ĐẦU VÀO LÀ: 9  3  7  8</a:t>
            </a:r>
          </a:p>
        </p:txBody>
      </p:sp>
      <p:sp>
        <p:nvSpPr>
          <p:cNvPr id="5" name="Freeform 5"/>
          <p:cNvSpPr/>
          <p:nvPr/>
        </p:nvSpPr>
        <p:spPr>
          <a:xfrm flipH="1">
            <a:off x="13890329" y="-1186904"/>
            <a:ext cx="6217418" cy="4114800"/>
          </a:xfrm>
          <a:custGeom>
            <a:avLst/>
            <a:gdLst/>
            <a:ahLst/>
            <a:cxnLst/>
            <a:rect l="l" t="t" r="r" b="b"/>
            <a:pathLst>
              <a:path w="6217418" h="4114800">
                <a:moveTo>
                  <a:pt x="6217418" y="0"/>
                </a:moveTo>
                <a:lnTo>
                  <a:pt x="0" y="0"/>
                </a:lnTo>
                <a:lnTo>
                  <a:pt x="0" y="4114800"/>
                </a:lnTo>
                <a:lnTo>
                  <a:pt x="6217418" y="4114800"/>
                </a:lnTo>
                <a:lnTo>
                  <a:pt x="621741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3597698" y="-1769921"/>
            <a:ext cx="6217418" cy="4114800"/>
          </a:xfrm>
          <a:custGeom>
            <a:avLst/>
            <a:gdLst/>
            <a:ahLst/>
            <a:cxnLst/>
            <a:rect l="l" t="t" r="r" b="b"/>
            <a:pathLst>
              <a:path w="6217418" h="4114800">
                <a:moveTo>
                  <a:pt x="6217418" y="0"/>
                </a:moveTo>
                <a:lnTo>
                  <a:pt x="0" y="0"/>
                </a:lnTo>
                <a:lnTo>
                  <a:pt x="0" y="4114800"/>
                </a:lnTo>
                <a:lnTo>
                  <a:pt x="6217418" y="4114800"/>
                </a:lnTo>
                <a:lnTo>
                  <a:pt x="621741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3108709" y="7013575"/>
            <a:ext cx="6217418" cy="4114800"/>
          </a:xfrm>
          <a:custGeom>
            <a:avLst/>
            <a:gdLst/>
            <a:ahLst/>
            <a:cxnLst/>
            <a:rect l="l" t="t" r="r" b="b"/>
            <a:pathLst>
              <a:path w="6217418" h="4114800">
                <a:moveTo>
                  <a:pt x="6217418" y="0"/>
                </a:moveTo>
                <a:lnTo>
                  <a:pt x="0" y="0"/>
                </a:lnTo>
                <a:lnTo>
                  <a:pt x="0" y="4114800"/>
                </a:lnTo>
                <a:lnTo>
                  <a:pt x="6217418" y="4114800"/>
                </a:lnTo>
                <a:lnTo>
                  <a:pt x="621741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777687" y="2622534"/>
            <a:ext cx="5106929" cy="5041932"/>
          </a:xfrm>
          <a:custGeom>
            <a:avLst/>
            <a:gdLst/>
            <a:ahLst/>
            <a:cxnLst/>
            <a:rect l="l" t="t" r="r" b="b"/>
            <a:pathLst>
              <a:path w="5106929" h="5041932">
                <a:moveTo>
                  <a:pt x="0" y="0"/>
                </a:moveTo>
                <a:lnTo>
                  <a:pt x="5106929" y="0"/>
                </a:lnTo>
                <a:lnTo>
                  <a:pt x="5106929" y="5041932"/>
                </a:lnTo>
                <a:lnTo>
                  <a:pt x="0" y="50419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736115" y="4491572"/>
            <a:ext cx="6565455" cy="2314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3425" lvl="1" indent="-366395" algn="just">
              <a:lnSpc>
                <a:spcPts val="4759"/>
              </a:lnSpc>
              <a:buFont typeface="Arial"/>
              <a:buChar char="•"/>
            </a:pPr>
            <a:r>
              <a:rPr lang="en-US" sz="34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Mảng</a:t>
            </a:r>
            <a:r>
              <a:rPr lang="en-US" sz="34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sau</a:t>
            </a:r>
            <a:r>
              <a:rPr lang="en-US" sz="34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khi</a:t>
            </a:r>
            <a:r>
              <a:rPr lang="en-US" sz="34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sắp</a:t>
            </a:r>
            <a:r>
              <a:rPr lang="en-US" sz="34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xếp</a:t>
            </a:r>
            <a:endParaRPr lang="en-US" sz="3400" dirty="0">
              <a:solidFill>
                <a:srgbClr val="000000"/>
              </a:solidFill>
              <a:latin typeface="Noto Sans"/>
              <a:ea typeface="Poppins"/>
              <a:cs typeface="Poppins"/>
            </a:endParaRPr>
          </a:p>
          <a:p>
            <a:pPr marL="733425" lvl="1" indent="-366395" algn="just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4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Các </a:t>
            </a:r>
            <a:r>
              <a:rPr lang="en-US" sz="34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bước</a:t>
            </a:r>
            <a:r>
              <a:rPr lang="en-US" sz="34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thực</a:t>
            </a:r>
            <a:r>
              <a:rPr lang="en-US" sz="34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hiện</a:t>
            </a:r>
            <a:endParaRPr lang="en-US" sz="3400" dirty="0">
              <a:solidFill>
                <a:srgbClr val="000000"/>
              </a:solidFill>
              <a:latin typeface="Noto Sans"/>
              <a:ea typeface="Poppins"/>
              <a:cs typeface="Poppins"/>
            </a:endParaRPr>
          </a:p>
          <a:p>
            <a:pPr marL="733425" lvl="1" indent="-366395" algn="just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4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Thời</a:t>
            </a:r>
            <a:r>
              <a:rPr lang="en-US" sz="34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gian</a:t>
            </a:r>
            <a:r>
              <a:rPr lang="en-US" sz="34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xử</a:t>
            </a:r>
            <a:r>
              <a:rPr lang="en-US" sz="34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lý</a:t>
            </a:r>
            <a:endParaRPr lang="en-US" sz="3400" dirty="0">
              <a:solidFill>
                <a:srgbClr val="000000"/>
              </a:solidFill>
              <a:latin typeface="Noto Sans"/>
              <a:ea typeface="Poppins"/>
              <a:cs typeface="Poppins"/>
            </a:endParaRPr>
          </a:p>
          <a:p>
            <a:pPr algn="just">
              <a:lnSpc>
                <a:spcPts val="3639"/>
              </a:lnSpc>
              <a:spcBef>
                <a:spcPct val="0"/>
              </a:spcBef>
            </a:pPr>
            <a:endParaRPr lang="en-US" sz="3399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3108709" y="3585004"/>
            <a:ext cx="5428428" cy="775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20"/>
              </a:lnSpc>
            </a:pPr>
            <a:r>
              <a:rPr lang="en-US" sz="6000" b="1">
                <a:solidFill>
                  <a:srgbClr val="000000"/>
                </a:solidFill>
                <a:latin typeface="Oswald Bold"/>
                <a:ea typeface="Oswald Bold"/>
                <a:cs typeface="Oswald Bold"/>
                <a:sym typeface="Oswald Bold"/>
              </a:rPr>
              <a:t>DỮ LIỆU ĐẦU RA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3289321" y="7200900"/>
            <a:ext cx="6217418" cy="4114800"/>
          </a:xfrm>
          <a:custGeom>
            <a:avLst/>
            <a:gdLst/>
            <a:ahLst/>
            <a:cxnLst/>
            <a:rect l="l" t="t" r="r" b="b"/>
            <a:pathLst>
              <a:path w="6217418" h="4114800">
                <a:moveTo>
                  <a:pt x="6217418" y="0"/>
                </a:moveTo>
                <a:lnTo>
                  <a:pt x="0" y="0"/>
                </a:lnTo>
                <a:lnTo>
                  <a:pt x="0" y="4114800"/>
                </a:lnTo>
                <a:lnTo>
                  <a:pt x="6217418" y="4114800"/>
                </a:lnTo>
                <a:lnTo>
                  <a:pt x="621741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032997" y="2782346"/>
            <a:ext cx="2553920" cy="6065561"/>
          </a:xfrm>
          <a:custGeom>
            <a:avLst/>
            <a:gdLst/>
            <a:ahLst/>
            <a:cxnLst/>
            <a:rect l="l" t="t" r="r" b="b"/>
            <a:pathLst>
              <a:path w="2553920" h="6065561">
                <a:moveTo>
                  <a:pt x="0" y="0"/>
                </a:moveTo>
                <a:lnTo>
                  <a:pt x="2553920" y="0"/>
                </a:lnTo>
                <a:lnTo>
                  <a:pt x="2553920" y="6065561"/>
                </a:lnTo>
                <a:lnTo>
                  <a:pt x="0" y="60655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510842" y="2782346"/>
            <a:ext cx="2433444" cy="5664060"/>
          </a:xfrm>
          <a:custGeom>
            <a:avLst/>
            <a:gdLst/>
            <a:ahLst/>
            <a:cxnLst/>
            <a:rect l="l" t="t" r="r" b="b"/>
            <a:pathLst>
              <a:path w="2433444" h="5664060">
                <a:moveTo>
                  <a:pt x="0" y="0"/>
                </a:moveTo>
                <a:lnTo>
                  <a:pt x="2433444" y="0"/>
                </a:lnTo>
                <a:lnTo>
                  <a:pt x="2433444" y="5664061"/>
                </a:lnTo>
                <a:lnTo>
                  <a:pt x="0" y="56640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34226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1049186" y="2782346"/>
            <a:ext cx="2547530" cy="6057460"/>
          </a:xfrm>
          <a:custGeom>
            <a:avLst/>
            <a:gdLst/>
            <a:ahLst/>
            <a:cxnLst/>
            <a:rect l="l" t="t" r="r" b="b"/>
            <a:pathLst>
              <a:path w="2547530" h="6057460">
                <a:moveTo>
                  <a:pt x="0" y="0"/>
                </a:moveTo>
                <a:lnTo>
                  <a:pt x="2547530" y="0"/>
                </a:lnTo>
                <a:lnTo>
                  <a:pt x="2547530" y="6057460"/>
                </a:lnTo>
                <a:lnTo>
                  <a:pt x="0" y="605746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520641" y="2780318"/>
            <a:ext cx="2553843" cy="6059488"/>
          </a:xfrm>
          <a:custGeom>
            <a:avLst/>
            <a:gdLst/>
            <a:ahLst/>
            <a:cxnLst/>
            <a:rect l="l" t="t" r="r" b="b"/>
            <a:pathLst>
              <a:path w="2553843" h="6059488">
                <a:moveTo>
                  <a:pt x="0" y="0"/>
                </a:moveTo>
                <a:lnTo>
                  <a:pt x="2553843" y="0"/>
                </a:lnTo>
                <a:lnTo>
                  <a:pt x="2553843" y="6059488"/>
                </a:lnTo>
                <a:lnTo>
                  <a:pt x="0" y="605948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14122351" y="-2360958"/>
            <a:ext cx="6217418" cy="4114800"/>
          </a:xfrm>
          <a:custGeom>
            <a:avLst/>
            <a:gdLst/>
            <a:ahLst/>
            <a:cxnLst/>
            <a:rect l="l" t="t" r="r" b="b"/>
            <a:pathLst>
              <a:path w="6217418" h="4114800">
                <a:moveTo>
                  <a:pt x="6217417" y="0"/>
                </a:moveTo>
                <a:lnTo>
                  <a:pt x="0" y="0"/>
                </a:lnTo>
                <a:lnTo>
                  <a:pt x="0" y="4114800"/>
                </a:lnTo>
                <a:lnTo>
                  <a:pt x="6217417" y="4114800"/>
                </a:lnTo>
                <a:lnTo>
                  <a:pt x="621741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816643" y="2782346"/>
            <a:ext cx="2228254" cy="6288629"/>
          </a:xfrm>
          <a:custGeom>
            <a:avLst/>
            <a:gdLst/>
            <a:ahLst/>
            <a:cxnLst/>
            <a:rect l="l" t="t" r="r" b="b"/>
            <a:pathLst>
              <a:path w="2228254" h="6288629">
                <a:moveTo>
                  <a:pt x="0" y="0"/>
                </a:moveTo>
                <a:lnTo>
                  <a:pt x="2228254" y="0"/>
                </a:lnTo>
                <a:lnTo>
                  <a:pt x="2228254" y="6288629"/>
                </a:lnTo>
                <a:lnTo>
                  <a:pt x="0" y="628862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583042" y="1461176"/>
            <a:ext cx="2696718" cy="5836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Bubble Sort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841738" y="1461176"/>
            <a:ext cx="2936438" cy="618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Selection Sort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319591" y="1461176"/>
            <a:ext cx="2815947" cy="618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Insertion Sort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524036" y="1429861"/>
            <a:ext cx="3597831" cy="618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Interchange Sort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712308" y="1445519"/>
            <a:ext cx="2170509" cy="618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Quick Sort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3597698" y="-1769921"/>
            <a:ext cx="6217418" cy="4114800"/>
          </a:xfrm>
          <a:custGeom>
            <a:avLst/>
            <a:gdLst/>
            <a:ahLst/>
            <a:cxnLst/>
            <a:rect l="l" t="t" r="r" b="b"/>
            <a:pathLst>
              <a:path w="6217418" h="4114800">
                <a:moveTo>
                  <a:pt x="6217418" y="0"/>
                </a:moveTo>
                <a:lnTo>
                  <a:pt x="0" y="0"/>
                </a:lnTo>
                <a:lnTo>
                  <a:pt x="0" y="4114800"/>
                </a:lnTo>
                <a:lnTo>
                  <a:pt x="6217418" y="4114800"/>
                </a:lnTo>
                <a:lnTo>
                  <a:pt x="621741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2681018" y="7635522"/>
            <a:ext cx="6217418" cy="4114800"/>
          </a:xfrm>
          <a:custGeom>
            <a:avLst/>
            <a:gdLst/>
            <a:ahLst/>
            <a:cxnLst/>
            <a:rect l="l" t="t" r="r" b="b"/>
            <a:pathLst>
              <a:path w="6217418" h="4114800">
                <a:moveTo>
                  <a:pt x="6217418" y="0"/>
                </a:moveTo>
                <a:lnTo>
                  <a:pt x="0" y="0"/>
                </a:lnTo>
                <a:lnTo>
                  <a:pt x="0" y="4114800"/>
                </a:lnTo>
                <a:lnTo>
                  <a:pt x="6217418" y="4114800"/>
                </a:lnTo>
                <a:lnTo>
                  <a:pt x="621741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887853" y="2209048"/>
            <a:ext cx="5419691" cy="5426474"/>
          </a:xfrm>
          <a:custGeom>
            <a:avLst/>
            <a:gdLst/>
            <a:ahLst/>
            <a:cxnLst/>
            <a:rect l="l" t="t" r="r" b="b"/>
            <a:pathLst>
              <a:path w="5419691" h="5426474">
                <a:moveTo>
                  <a:pt x="0" y="0"/>
                </a:moveTo>
                <a:lnTo>
                  <a:pt x="5419691" y="0"/>
                </a:lnTo>
                <a:lnTo>
                  <a:pt x="5419691" y="5426474"/>
                </a:lnTo>
                <a:lnTo>
                  <a:pt x="0" y="54264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117252" y="4524878"/>
            <a:ext cx="8500139" cy="23053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3425" lvl="1" indent="-366395" algn="just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5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Tất</a:t>
            </a:r>
            <a:r>
              <a:rPr lang="en-US" sz="335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35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cả</a:t>
            </a:r>
            <a:r>
              <a:rPr lang="en-US" sz="335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35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thuật</a:t>
            </a:r>
            <a:r>
              <a:rPr lang="en-US" sz="335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35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toán</a:t>
            </a:r>
            <a:r>
              <a:rPr lang="en-US" sz="335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35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cho</a:t>
            </a:r>
            <a:r>
              <a:rPr lang="en-US" sz="335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35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kết</a:t>
            </a:r>
            <a:r>
              <a:rPr lang="en-US" sz="335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35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quả</a:t>
            </a:r>
            <a:r>
              <a:rPr lang="en-US" sz="335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35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đúng</a:t>
            </a:r>
            <a:endParaRPr lang="en-US" sz="3350" dirty="0" err="1">
              <a:solidFill>
                <a:srgbClr val="000000"/>
              </a:solidFill>
              <a:latin typeface="Noto Sans"/>
              <a:ea typeface="Poppins"/>
              <a:cs typeface="Poppins"/>
            </a:endParaRPr>
          </a:p>
          <a:p>
            <a:pPr marL="733425" lvl="1" indent="-366395" algn="just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5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Có</a:t>
            </a:r>
            <a:r>
              <a:rPr lang="en-US" sz="335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35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sự</a:t>
            </a:r>
            <a:r>
              <a:rPr lang="en-US" sz="335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35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khác</a:t>
            </a:r>
            <a:r>
              <a:rPr lang="en-US" sz="335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35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biệt</a:t>
            </a:r>
            <a:r>
              <a:rPr lang="en-US" sz="335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35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về</a:t>
            </a:r>
            <a:r>
              <a:rPr lang="en-US" sz="335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35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tốc</a:t>
            </a:r>
            <a:r>
              <a:rPr lang="en-US" sz="335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35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độ</a:t>
            </a:r>
            <a:endParaRPr lang="en-US" sz="3350" dirty="0" err="1">
              <a:solidFill>
                <a:srgbClr val="000000"/>
              </a:solidFill>
              <a:latin typeface="Noto Sans"/>
              <a:ea typeface="Poppins"/>
              <a:cs typeface="Poppins"/>
            </a:endParaRPr>
          </a:p>
          <a:p>
            <a:pPr marL="733425" lvl="1" indent="-366395" algn="just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5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Kết</a:t>
            </a:r>
            <a:r>
              <a:rPr lang="en-US" sz="335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35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quả</a:t>
            </a:r>
            <a:r>
              <a:rPr lang="en-US" sz="335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35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phù</a:t>
            </a:r>
            <a:r>
              <a:rPr lang="en-US" sz="335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35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hợp</a:t>
            </a:r>
            <a:r>
              <a:rPr lang="en-US" sz="335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35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với</a:t>
            </a:r>
            <a:r>
              <a:rPr lang="en-US" sz="335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35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lý</a:t>
            </a:r>
            <a:r>
              <a:rPr lang="en-US" sz="335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35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thuyết</a:t>
            </a:r>
            <a:endParaRPr lang="en-US" sz="3350" dirty="0" err="1">
              <a:solidFill>
                <a:srgbClr val="000000"/>
              </a:solidFill>
              <a:latin typeface="Noto Sans"/>
              <a:ea typeface="Poppins"/>
              <a:cs typeface="Poppins"/>
            </a:endParaRPr>
          </a:p>
          <a:p>
            <a:pPr algn="just">
              <a:lnSpc>
                <a:spcPts val="3499"/>
              </a:lnSpc>
              <a:spcBef>
                <a:spcPct val="0"/>
              </a:spcBef>
            </a:pPr>
            <a:endParaRPr lang="en-US" sz="3399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613038" y="3489207"/>
            <a:ext cx="7239625" cy="775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20"/>
              </a:lnSpc>
            </a:pPr>
            <a:r>
              <a:rPr lang="en-US" sz="6000" b="1">
                <a:solidFill>
                  <a:srgbClr val="000000"/>
                </a:solidFill>
                <a:latin typeface="Oswald Bold"/>
                <a:ea typeface="Oswald Bold"/>
                <a:cs typeface="Oswald Bold"/>
                <a:sym typeface="Oswald Bold"/>
              </a:rPr>
              <a:t>KẾT QUẢ MÔ PHỎNG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695454" y="6826250"/>
            <a:ext cx="6217418" cy="4114800"/>
          </a:xfrm>
          <a:custGeom>
            <a:avLst/>
            <a:gdLst/>
            <a:ahLst/>
            <a:cxnLst/>
            <a:rect l="l" t="t" r="r" b="b"/>
            <a:pathLst>
              <a:path w="6217418" h="4114800">
                <a:moveTo>
                  <a:pt x="0" y="0"/>
                </a:moveTo>
                <a:lnTo>
                  <a:pt x="6217418" y="0"/>
                </a:lnTo>
                <a:lnTo>
                  <a:pt x="62174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1028700"/>
            <a:ext cx="5855783" cy="8229600"/>
            <a:chOff x="0" y="0"/>
            <a:chExt cx="907214" cy="127498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07214" cy="1274980"/>
            </a:xfrm>
            <a:custGeom>
              <a:avLst/>
              <a:gdLst/>
              <a:ahLst/>
              <a:cxnLst/>
              <a:rect l="l" t="t" r="r" b="b"/>
              <a:pathLst>
                <a:path w="907214" h="1274980">
                  <a:moveTo>
                    <a:pt x="0" y="0"/>
                  </a:moveTo>
                  <a:lnTo>
                    <a:pt x="907214" y="0"/>
                  </a:lnTo>
                  <a:lnTo>
                    <a:pt x="907214" y="1274980"/>
                  </a:lnTo>
                  <a:lnTo>
                    <a:pt x="0" y="1274980"/>
                  </a:lnTo>
                  <a:close/>
                </a:path>
              </a:pathLst>
            </a:custGeom>
            <a:blipFill>
              <a:blip r:embed="rId4"/>
              <a:stretch>
                <a:fillRect l="-20268" r="-20268"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-2080009" y="-1519728"/>
            <a:ext cx="6217418" cy="4114800"/>
          </a:xfrm>
          <a:custGeom>
            <a:avLst/>
            <a:gdLst/>
            <a:ahLst/>
            <a:cxnLst/>
            <a:rect l="l" t="t" r="r" b="b"/>
            <a:pathLst>
              <a:path w="6217418" h="4114800">
                <a:moveTo>
                  <a:pt x="0" y="0"/>
                </a:moveTo>
                <a:lnTo>
                  <a:pt x="6217418" y="0"/>
                </a:lnTo>
                <a:lnTo>
                  <a:pt x="62174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8159058" y="3921820"/>
            <a:ext cx="9645105" cy="2381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25170" lvl="1" indent="-362585" algn="just">
              <a:lnSpc>
                <a:spcPts val="4705"/>
              </a:lnSpc>
              <a:spcBef>
                <a:spcPct val="0"/>
              </a:spcBef>
              <a:buFont typeface="Arial"/>
              <a:buChar char="•"/>
            </a:pPr>
            <a:r>
              <a:rPr lang="en-US" sz="335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Quick Sort </a:t>
            </a:r>
            <a:r>
              <a:rPr lang="en-US" sz="335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nhanh</a:t>
            </a:r>
            <a:r>
              <a:rPr lang="en-US" sz="335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35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nhất</a:t>
            </a:r>
            <a:endParaRPr lang="en-US" sz="3350" dirty="0" err="1">
              <a:solidFill>
                <a:srgbClr val="000000"/>
              </a:solidFill>
              <a:latin typeface="Noto Sans"/>
              <a:ea typeface="Poppins"/>
              <a:cs typeface="Poppins"/>
            </a:endParaRPr>
          </a:p>
          <a:p>
            <a:pPr marL="725170" lvl="1" indent="-362585" algn="just">
              <a:lnSpc>
                <a:spcPts val="4705"/>
              </a:lnSpc>
              <a:spcBef>
                <a:spcPct val="0"/>
              </a:spcBef>
              <a:buFont typeface="Arial"/>
              <a:buChar char="•"/>
            </a:pPr>
            <a:r>
              <a:rPr lang="en-US" sz="335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Insertion Sort </a:t>
            </a:r>
            <a:r>
              <a:rPr lang="en-US" sz="335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phù</a:t>
            </a:r>
            <a:r>
              <a:rPr lang="en-US" sz="335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35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hợp</a:t>
            </a:r>
            <a:r>
              <a:rPr lang="en-US" sz="335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35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mảng</a:t>
            </a:r>
            <a:r>
              <a:rPr lang="en-US" sz="335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35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nhỏ</a:t>
            </a:r>
            <a:endParaRPr lang="en-US" sz="3350" dirty="0" err="1">
              <a:solidFill>
                <a:srgbClr val="000000"/>
              </a:solidFill>
              <a:latin typeface="Noto Sans"/>
              <a:ea typeface="Poppins"/>
              <a:cs typeface="Poppins"/>
            </a:endParaRPr>
          </a:p>
          <a:p>
            <a:pPr marL="725170" lvl="1" indent="-362585" algn="just">
              <a:lnSpc>
                <a:spcPts val="4705"/>
              </a:lnSpc>
              <a:spcBef>
                <a:spcPct val="0"/>
              </a:spcBef>
              <a:buFont typeface="Arial"/>
              <a:buChar char="•"/>
            </a:pPr>
            <a:r>
              <a:rPr lang="en-US" sz="335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Các </a:t>
            </a:r>
            <a:r>
              <a:rPr lang="en-US" sz="335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thuật</a:t>
            </a:r>
            <a:r>
              <a:rPr lang="en-US" sz="335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35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toán</a:t>
            </a:r>
            <a:r>
              <a:rPr lang="en-US" sz="335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35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còn</a:t>
            </a:r>
            <a:r>
              <a:rPr lang="en-US" sz="335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35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lại</a:t>
            </a:r>
            <a:r>
              <a:rPr lang="en-US" sz="335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35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chậm</a:t>
            </a:r>
            <a:r>
              <a:rPr lang="en-US" sz="335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35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hơn</a:t>
            </a:r>
            <a:endParaRPr lang="en-US" sz="3350" dirty="0" err="1">
              <a:solidFill>
                <a:srgbClr val="000000"/>
              </a:solidFill>
              <a:latin typeface="Noto Sans"/>
              <a:ea typeface="Poppins"/>
              <a:cs typeface="Poppins"/>
            </a:endParaRPr>
          </a:p>
          <a:p>
            <a:pPr algn="just">
              <a:lnSpc>
                <a:spcPts val="4705"/>
              </a:lnSpc>
              <a:spcBef>
                <a:spcPct val="0"/>
              </a:spcBef>
            </a:pPr>
            <a:endParaRPr lang="en-US" sz="3361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8602541" y="2728422"/>
            <a:ext cx="6676874" cy="775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20"/>
              </a:lnSpc>
            </a:pPr>
            <a:r>
              <a:rPr lang="en-US" sz="6000" b="1">
                <a:solidFill>
                  <a:srgbClr val="000000"/>
                </a:solidFill>
                <a:latin typeface="Oswald Bold"/>
                <a:ea typeface="Oswald Bold"/>
                <a:cs typeface="Oswald Bold"/>
                <a:sym typeface="Oswald Bold"/>
              </a:rPr>
              <a:t>SO SÁNH THỜI GIAN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695454" y="6826250"/>
            <a:ext cx="6217418" cy="4114800"/>
          </a:xfrm>
          <a:custGeom>
            <a:avLst/>
            <a:gdLst/>
            <a:ahLst/>
            <a:cxnLst/>
            <a:rect l="l" t="t" r="r" b="b"/>
            <a:pathLst>
              <a:path w="6217418" h="4114800">
                <a:moveTo>
                  <a:pt x="0" y="0"/>
                </a:moveTo>
                <a:lnTo>
                  <a:pt x="6217418" y="0"/>
                </a:lnTo>
                <a:lnTo>
                  <a:pt x="62174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252423" y="252830"/>
            <a:ext cx="1551740" cy="1551740"/>
          </a:xfrm>
          <a:custGeom>
            <a:avLst/>
            <a:gdLst/>
            <a:ahLst/>
            <a:cxnLst/>
            <a:rect l="l" t="t" r="r" b="b"/>
            <a:pathLst>
              <a:path w="1551740" h="1551740">
                <a:moveTo>
                  <a:pt x="0" y="0"/>
                </a:moveTo>
                <a:lnTo>
                  <a:pt x="1551740" y="0"/>
                </a:lnTo>
                <a:lnTo>
                  <a:pt x="1551740" y="1551740"/>
                </a:lnTo>
                <a:lnTo>
                  <a:pt x="0" y="15517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028700" y="1028700"/>
            <a:ext cx="5855783" cy="8229600"/>
            <a:chOff x="0" y="0"/>
            <a:chExt cx="907214" cy="127498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07214" cy="1274980"/>
            </a:xfrm>
            <a:custGeom>
              <a:avLst/>
              <a:gdLst/>
              <a:ahLst/>
              <a:cxnLst/>
              <a:rect l="l" t="t" r="r" b="b"/>
              <a:pathLst>
                <a:path w="907214" h="1274980">
                  <a:moveTo>
                    <a:pt x="0" y="0"/>
                  </a:moveTo>
                  <a:lnTo>
                    <a:pt x="907214" y="0"/>
                  </a:lnTo>
                  <a:lnTo>
                    <a:pt x="907214" y="1274980"/>
                  </a:lnTo>
                  <a:lnTo>
                    <a:pt x="0" y="1274980"/>
                  </a:lnTo>
                  <a:close/>
                </a:path>
              </a:pathLst>
            </a:custGeom>
            <a:blipFill>
              <a:blip r:embed="rId6"/>
              <a:stretch>
                <a:fillRect l="-55307" r="-55307"/>
              </a:stretch>
            </a:blipFill>
          </p:spPr>
        </p:sp>
      </p:grpSp>
      <p:sp>
        <p:nvSpPr>
          <p:cNvPr id="6" name="Freeform 6"/>
          <p:cNvSpPr/>
          <p:nvPr/>
        </p:nvSpPr>
        <p:spPr>
          <a:xfrm>
            <a:off x="-2080009" y="-1519728"/>
            <a:ext cx="6217418" cy="4114800"/>
          </a:xfrm>
          <a:custGeom>
            <a:avLst/>
            <a:gdLst/>
            <a:ahLst/>
            <a:cxnLst/>
            <a:rect l="l" t="t" r="r" b="b"/>
            <a:pathLst>
              <a:path w="6217418" h="4114800">
                <a:moveTo>
                  <a:pt x="0" y="0"/>
                </a:moveTo>
                <a:lnTo>
                  <a:pt x="6217418" y="0"/>
                </a:lnTo>
                <a:lnTo>
                  <a:pt x="62174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0821539" y="3243251"/>
            <a:ext cx="3105460" cy="775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820"/>
              </a:lnSpc>
            </a:pPr>
            <a:r>
              <a:rPr lang="en-US" sz="6000" b="1">
                <a:solidFill>
                  <a:srgbClr val="000000"/>
                </a:solidFill>
                <a:latin typeface="Oswald Bold"/>
                <a:ea typeface="Oswald Bold"/>
                <a:cs typeface="Oswald Bold"/>
                <a:sym typeface="Oswald Bold"/>
              </a:rPr>
              <a:t>KẾT LUẬN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159058" y="4444652"/>
            <a:ext cx="9645105" cy="2381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25170" lvl="1" indent="-362585" algn="just">
              <a:lnSpc>
                <a:spcPts val="4705"/>
              </a:lnSpc>
              <a:buFont typeface="Arial"/>
              <a:buChar char="•"/>
            </a:pPr>
            <a:r>
              <a:rPr lang="en-US" sz="335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Đề</a:t>
            </a:r>
            <a:r>
              <a:rPr lang="en-US" sz="335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35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tài</a:t>
            </a:r>
            <a:r>
              <a:rPr lang="en-US" sz="335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35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đạt</a:t>
            </a:r>
            <a:r>
              <a:rPr lang="en-US" sz="335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35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được</a:t>
            </a:r>
            <a:r>
              <a:rPr lang="en-US" sz="335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35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mục</a:t>
            </a:r>
            <a:r>
              <a:rPr lang="en-US" sz="335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35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tiêu</a:t>
            </a:r>
            <a:r>
              <a:rPr lang="en-US" sz="335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35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đề</a:t>
            </a:r>
            <a:r>
              <a:rPr lang="en-US" sz="335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35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ra</a:t>
            </a:r>
            <a:endParaRPr lang="en-US" sz="3350" dirty="0" err="1">
              <a:solidFill>
                <a:srgbClr val="000000"/>
              </a:solidFill>
              <a:latin typeface="Noto Sans"/>
              <a:ea typeface="Poppins"/>
              <a:cs typeface="Poppins"/>
            </a:endParaRPr>
          </a:p>
          <a:p>
            <a:pPr marL="725170" lvl="1" indent="-362585" algn="just">
              <a:lnSpc>
                <a:spcPts val="4705"/>
              </a:lnSpc>
              <a:spcBef>
                <a:spcPct val="0"/>
              </a:spcBef>
              <a:buFont typeface="Arial"/>
              <a:buChar char="•"/>
            </a:pPr>
            <a:r>
              <a:rPr lang="en-US" sz="335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Chương</a:t>
            </a:r>
            <a:r>
              <a:rPr lang="en-US" sz="335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35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trình</a:t>
            </a:r>
            <a:r>
              <a:rPr lang="en-US" sz="335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35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trực</a:t>
            </a:r>
            <a:r>
              <a:rPr lang="en-US" sz="335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35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quan</a:t>
            </a:r>
            <a:r>
              <a:rPr lang="en-US" sz="335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, </a:t>
            </a:r>
            <a:r>
              <a:rPr lang="en-US" sz="335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dễ</a:t>
            </a:r>
            <a:r>
              <a:rPr lang="en-US" sz="335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35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sử</a:t>
            </a:r>
            <a:r>
              <a:rPr lang="en-US" sz="335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35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dụng</a:t>
            </a:r>
            <a:endParaRPr lang="en-US" sz="3350" dirty="0" err="1">
              <a:solidFill>
                <a:srgbClr val="000000"/>
              </a:solidFill>
              <a:latin typeface="Noto Sans"/>
              <a:ea typeface="Poppins"/>
              <a:cs typeface="Poppins"/>
            </a:endParaRPr>
          </a:p>
          <a:p>
            <a:pPr marL="725170" lvl="1" indent="-362585" algn="just">
              <a:lnSpc>
                <a:spcPts val="4705"/>
              </a:lnSpc>
              <a:spcBef>
                <a:spcPct val="0"/>
              </a:spcBef>
              <a:buFont typeface="Arial"/>
              <a:buChar char="•"/>
            </a:pPr>
            <a:r>
              <a:rPr lang="en-US" sz="335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Hỗ</a:t>
            </a:r>
            <a:r>
              <a:rPr lang="en-US" sz="335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35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trợ</a:t>
            </a:r>
            <a:r>
              <a:rPr lang="en-US" sz="335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35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tốt</a:t>
            </a:r>
            <a:r>
              <a:rPr lang="en-US" sz="335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35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cho</a:t>
            </a:r>
            <a:r>
              <a:rPr lang="en-US" sz="335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35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việc</a:t>
            </a:r>
            <a:r>
              <a:rPr lang="en-US" sz="335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35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học</a:t>
            </a:r>
            <a:r>
              <a:rPr lang="en-US" sz="335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35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thuật</a:t>
            </a:r>
            <a:r>
              <a:rPr lang="en-US" sz="335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35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toán</a:t>
            </a:r>
            <a:endParaRPr lang="en-US" sz="3350" dirty="0" err="1">
              <a:solidFill>
                <a:srgbClr val="000000"/>
              </a:solidFill>
              <a:latin typeface="Noto Sans"/>
              <a:ea typeface="Poppins"/>
              <a:cs typeface="Poppins"/>
            </a:endParaRPr>
          </a:p>
          <a:p>
            <a:pPr algn="just">
              <a:lnSpc>
                <a:spcPts val="4705"/>
              </a:lnSpc>
              <a:spcBef>
                <a:spcPct val="0"/>
              </a:spcBef>
            </a:pPr>
            <a:endParaRPr lang="en-US" sz="3361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695454" y="6826250"/>
            <a:ext cx="6217418" cy="4114800"/>
          </a:xfrm>
          <a:custGeom>
            <a:avLst/>
            <a:gdLst/>
            <a:ahLst/>
            <a:cxnLst/>
            <a:rect l="l" t="t" r="r" b="b"/>
            <a:pathLst>
              <a:path w="6217418" h="4114800">
                <a:moveTo>
                  <a:pt x="0" y="0"/>
                </a:moveTo>
                <a:lnTo>
                  <a:pt x="6217418" y="0"/>
                </a:lnTo>
                <a:lnTo>
                  <a:pt x="62174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1028700"/>
            <a:ext cx="5855783" cy="8229600"/>
            <a:chOff x="0" y="0"/>
            <a:chExt cx="907214" cy="127498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07214" cy="1274980"/>
            </a:xfrm>
            <a:custGeom>
              <a:avLst/>
              <a:gdLst/>
              <a:ahLst/>
              <a:cxnLst/>
              <a:rect l="l" t="t" r="r" b="b"/>
              <a:pathLst>
                <a:path w="907214" h="1274980">
                  <a:moveTo>
                    <a:pt x="0" y="0"/>
                  </a:moveTo>
                  <a:lnTo>
                    <a:pt x="907214" y="0"/>
                  </a:lnTo>
                  <a:lnTo>
                    <a:pt x="907214" y="1274980"/>
                  </a:lnTo>
                  <a:lnTo>
                    <a:pt x="0" y="1274980"/>
                  </a:lnTo>
                  <a:close/>
                </a:path>
              </a:pathLst>
            </a:custGeom>
            <a:blipFill>
              <a:blip r:embed="rId4"/>
              <a:stretch>
                <a:fillRect l="-20268" r="-20268"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-2080009" y="-1519728"/>
            <a:ext cx="6217418" cy="4114800"/>
          </a:xfrm>
          <a:custGeom>
            <a:avLst/>
            <a:gdLst/>
            <a:ahLst/>
            <a:cxnLst/>
            <a:rect l="l" t="t" r="r" b="b"/>
            <a:pathLst>
              <a:path w="6217418" h="4114800">
                <a:moveTo>
                  <a:pt x="0" y="0"/>
                </a:moveTo>
                <a:lnTo>
                  <a:pt x="6217418" y="0"/>
                </a:lnTo>
                <a:lnTo>
                  <a:pt x="62174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9144000" y="3400822"/>
            <a:ext cx="6256865" cy="775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820"/>
              </a:lnSpc>
            </a:pPr>
            <a:r>
              <a:rPr lang="en-US" sz="6000" b="1">
                <a:solidFill>
                  <a:srgbClr val="000000"/>
                </a:solidFill>
                <a:latin typeface="Oswald Bold"/>
                <a:ea typeface="Oswald Bold"/>
                <a:cs typeface="Oswald Bold"/>
                <a:sym typeface="Oswald Bold"/>
              </a:rPr>
              <a:t>HƯỚNG PHÁT TRIỂN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609259" y="4413545"/>
            <a:ext cx="7908547" cy="2412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5330" lvl="1" indent="-367665" algn="just">
              <a:lnSpc>
                <a:spcPts val="4770"/>
              </a:lnSpc>
              <a:buFont typeface="Arial"/>
              <a:buChar char="•"/>
            </a:pPr>
            <a:r>
              <a:rPr lang="en-US" sz="34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Bổ</a:t>
            </a:r>
            <a:r>
              <a:rPr lang="en-US" sz="34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sung </a:t>
            </a:r>
            <a:r>
              <a:rPr lang="en-US" sz="34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thêm</a:t>
            </a:r>
            <a:r>
              <a:rPr lang="en-US" sz="34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thuật</a:t>
            </a:r>
            <a:r>
              <a:rPr lang="en-US" sz="34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toán</a:t>
            </a:r>
            <a:r>
              <a:rPr lang="en-US" sz="34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mới</a:t>
            </a:r>
            <a:endParaRPr lang="en-US" sz="3400" dirty="0" err="1">
              <a:solidFill>
                <a:srgbClr val="000000"/>
              </a:solidFill>
              <a:latin typeface="Noto Sans"/>
              <a:ea typeface="Poppins"/>
              <a:cs typeface="Poppins"/>
            </a:endParaRPr>
          </a:p>
          <a:p>
            <a:pPr marL="735330" lvl="1" indent="-367665" algn="just">
              <a:lnSpc>
                <a:spcPts val="4770"/>
              </a:lnSpc>
              <a:spcBef>
                <a:spcPct val="0"/>
              </a:spcBef>
              <a:buFont typeface="Arial"/>
              <a:buChar char="•"/>
            </a:pPr>
            <a:r>
              <a:rPr lang="en-US" sz="34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Cải</a:t>
            </a:r>
            <a:r>
              <a:rPr lang="en-US" sz="34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tiến</a:t>
            </a:r>
            <a:r>
              <a:rPr lang="en-US" sz="34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giao</a:t>
            </a:r>
            <a:r>
              <a:rPr lang="en-US" sz="34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diện</a:t>
            </a:r>
            <a:endParaRPr lang="en-US" sz="3400" dirty="0" err="1">
              <a:solidFill>
                <a:srgbClr val="000000"/>
              </a:solidFill>
              <a:latin typeface="Noto Sans"/>
              <a:ea typeface="Poppins"/>
              <a:cs typeface="Poppins"/>
            </a:endParaRPr>
          </a:p>
          <a:p>
            <a:pPr marL="735330" lvl="1" indent="-367665" algn="just">
              <a:lnSpc>
                <a:spcPts val="4770"/>
              </a:lnSpc>
              <a:spcBef>
                <a:spcPct val="0"/>
              </a:spcBef>
              <a:buFont typeface="Arial"/>
              <a:buChar char="•"/>
            </a:pPr>
            <a:r>
              <a:rPr lang="en-US" sz="34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Đo</a:t>
            </a:r>
            <a:r>
              <a:rPr lang="en-US" sz="34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thời</a:t>
            </a:r>
            <a:r>
              <a:rPr lang="en-US" sz="34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gian</a:t>
            </a:r>
            <a:r>
              <a:rPr lang="en-US" sz="34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chi </a:t>
            </a:r>
            <a:r>
              <a:rPr lang="en-US" sz="34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tiết</a:t>
            </a:r>
            <a:r>
              <a:rPr lang="en-US" sz="340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hơn</a:t>
            </a:r>
            <a:endParaRPr lang="en-US" sz="3400" dirty="0" err="1">
              <a:solidFill>
                <a:srgbClr val="000000"/>
              </a:solidFill>
              <a:latin typeface="Noto Sans"/>
              <a:ea typeface="Poppins"/>
              <a:cs typeface="Poppins"/>
            </a:endParaRPr>
          </a:p>
          <a:p>
            <a:pPr algn="just">
              <a:lnSpc>
                <a:spcPts val="4770"/>
              </a:lnSpc>
              <a:spcBef>
                <a:spcPct val="0"/>
              </a:spcBef>
            </a:pPr>
            <a:endParaRPr lang="en-US" sz="3407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11877" y="3841764"/>
            <a:ext cx="6264247" cy="1301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9699"/>
              </a:lnSpc>
              <a:spcBef>
                <a:spcPct val="0"/>
              </a:spcBef>
            </a:pPr>
            <a:r>
              <a:rPr lang="en-US" sz="9999" b="1" u="none" strike="noStrike">
                <a:solidFill>
                  <a:srgbClr val="000000"/>
                </a:solidFill>
                <a:latin typeface="Oswald Bold"/>
                <a:ea typeface="Oswald Bold"/>
                <a:cs typeface="Oswald Bold"/>
                <a:sym typeface="Oswald Bold"/>
              </a:rPr>
              <a:t>THANK YOU</a:t>
            </a:r>
          </a:p>
        </p:txBody>
      </p:sp>
      <p:sp>
        <p:nvSpPr>
          <p:cNvPr id="3" name="Freeform 3"/>
          <p:cNvSpPr/>
          <p:nvPr/>
        </p:nvSpPr>
        <p:spPr>
          <a:xfrm flipH="1">
            <a:off x="12829028" y="-1722482"/>
            <a:ext cx="9225459" cy="6105576"/>
          </a:xfrm>
          <a:custGeom>
            <a:avLst/>
            <a:gdLst/>
            <a:ahLst/>
            <a:cxnLst/>
            <a:rect l="l" t="t" r="r" b="b"/>
            <a:pathLst>
              <a:path w="9225459" h="6105576">
                <a:moveTo>
                  <a:pt x="9225459" y="0"/>
                </a:moveTo>
                <a:lnTo>
                  <a:pt x="0" y="0"/>
                </a:lnTo>
                <a:lnTo>
                  <a:pt x="0" y="6105576"/>
                </a:lnTo>
                <a:lnTo>
                  <a:pt x="9225459" y="6105576"/>
                </a:lnTo>
                <a:lnTo>
                  <a:pt x="922545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-2080009" y="6645080"/>
            <a:ext cx="6217418" cy="4114800"/>
          </a:xfrm>
          <a:custGeom>
            <a:avLst/>
            <a:gdLst/>
            <a:ahLst/>
            <a:cxnLst/>
            <a:rect l="l" t="t" r="r" b="b"/>
            <a:pathLst>
              <a:path w="6217418" h="4114800">
                <a:moveTo>
                  <a:pt x="6217418" y="0"/>
                </a:moveTo>
                <a:lnTo>
                  <a:pt x="0" y="0"/>
                </a:lnTo>
                <a:lnTo>
                  <a:pt x="0" y="4114800"/>
                </a:lnTo>
                <a:lnTo>
                  <a:pt x="6217418" y="4114800"/>
                </a:lnTo>
                <a:lnTo>
                  <a:pt x="621741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5316617" y="5379408"/>
            <a:ext cx="7654766" cy="659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45"/>
              </a:lnSpc>
              <a:spcBef>
                <a:spcPct val="0"/>
              </a:spcBef>
            </a:pPr>
            <a:r>
              <a:rPr lang="en-US" sz="395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Xin </a:t>
            </a:r>
            <a:r>
              <a:rPr lang="en-US" sz="395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cảm</a:t>
            </a:r>
            <a:r>
              <a:rPr lang="en-US" sz="395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95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ơn</a:t>
            </a:r>
            <a:r>
              <a:rPr lang="en-US" sz="395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95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Thầy</a:t>
            </a:r>
            <a:r>
              <a:rPr lang="en-US" sz="395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95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đã</a:t>
            </a:r>
            <a:r>
              <a:rPr lang="en-US" sz="395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95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lắng</a:t>
            </a:r>
            <a:r>
              <a:rPr lang="en-US" sz="395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 </a:t>
            </a:r>
            <a:r>
              <a:rPr lang="en-US" sz="3950" dirty="0" err="1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nghe</a:t>
            </a:r>
            <a:r>
              <a:rPr lang="en-US" sz="3950" dirty="0">
                <a:solidFill>
                  <a:srgbClr val="000000"/>
                </a:solidFill>
                <a:latin typeface="Noto Sans"/>
                <a:ea typeface="Poppins"/>
                <a:cs typeface="Poppins"/>
                <a:sym typeface="Poppins"/>
              </a:rPr>
              <a:t>!</a:t>
            </a:r>
          </a:p>
        </p:txBody>
      </p:sp>
      <p:sp>
        <p:nvSpPr>
          <p:cNvPr id="6" name="Freeform 6"/>
          <p:cNvSpPr/>
          <p:nvPr/>
        </p:nvSpPr>
        <p:spPr>
          <a:xfrm>
            <a:off x="14695454" y="6826250"/>
            <a:ext cx="6217418" cy="4114800"/>
          </a:xfrm>
          <a:custGeom>
            <a:avLst/>
            <a:gdLst/>
            <a:ahLst/>
            <a:cxnLst/>
            <a:rect l="l" t="t" r="r" b="b"/>
            <a:pathLst>
              <a:path w="6217418" h="4114800">
                <a:moveTo>
                  <a:pt x="0" y="0"/>
                </a:moveTo>
                <a:lnTo>
                  <a:pt x="6217418" y="0"/>
                </a:lnTo>
                <a:lnTo>
                  <a:pt x="62174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1562278" y="-727094"/>
            <a:ext cx="6217418" cy="4114800"/>
          </a:xfrm>
          <a:custGeom>
            <a:avLst/>
            <a:gdLst/>
            <a:ahLst/>
            <a:cxnLst/>
            <a:rect l="l" t="t" r="r" b="b"/>
            <a:pathLst>
              <a:path w="6217418" h="4114800">
                <a:moveTo>
                  <a:pt x="0" y="0"/>
                </a:moveTo>
                <a:lnTo>
                  <a:pt x="6217418" y="0"/>
                </a:lnTo>
                <a:lnTo>
                  <a:pt x="62174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Minimalist Digital Evolution Computer Presentation</dc:title>
  <cp:revision>50</cp:revision>
  <dcterms:created xsi:type="dcterms:W3CDTF">2006-08-16T00:00:00Z</dcterms:created>
  <dcterms:modified xsi:type="dcterms:W3CDTF">2026-01-05T03:57:32Z</dcterms:modified>
  <dc:identifier>DAG9edhE5Z0</dc:identifier>
</cp:coreProperties>
</file>